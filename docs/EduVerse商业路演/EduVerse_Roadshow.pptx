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, flexDirection: 'row' }}&gt;&#10;  {/* Left: title zone */}&#10;  &lt;Box style={{ width: '560px', height: '100%', flexDirection: 'column', justifyContent: 'center', padding: '0 0 0 64px', position: 'relative', zIndex: 1 }}&gt;&#10;    &lt;Box style={{ flexDirection: 'row', alignItems: 'center', gap: 10, marginBottom: 28 }}&gt;&#10;      &lt;Box style={{ width: 40, height: 40, borderRadius: 10, background: 'linear-gradient(135deg,#1D4ED8 0%,#06B6D4 100%)', justifyContent: 'center', alignItems: 'center' }}&gt;&#10;        &lt;FAIcon name='graduation-cap' style={{ fill: '#FFFFFF', width: 22, height: 22 }} /&gt;&#10;      &lt;/Box&gt;&#10;      &lt;Text style={{ fontSize: 14, letterSpacing: 3, color: '#0F172A', opacity: 0.55, fontWeight: 'bold' }}&gt;BUSINESS ROADSHOW · 2026&lt;/Text&gt;&#10;    &lt;/Box&gt;&#10;    &lt;Text style={{ fontSize: 76, fontWeight: 'bold', lineHeight: 1.08, color: '#0F172A' }}&gt;&#10;      Agentic&lt;br /&gt;EduVerse&#10;    &lt;/Text&gt;&#10;    &lt;Box style={{ width: 120, height: 5, borderRadius: 3, background: 'linear-gradient(135deg,#1D4ED8 0%,#06B6D4 100%)', margin: '26px 0' }} /&gt;&#10;    &lt;Text style={{ fontSize: 19, lineHeight: 1.55, color: '#0F172A', opacity: 0.72 }}&gt;&#10;      One universe. Three portals.&lt;br /&gt;An AI classroom that already runs.&#10;    &lt;/Text&gt;&#10;    &lt;Text style={{ fontSize: 13, color: '#0F172A', opacity: 0.45, marginTop: 40 }}&gt;&#10;      Team EduVerse — Live demo available&#10;    &lt;/Text&gt;&#10;  &lt;/Box&gt;&#10;&#10;  {/* Right: full-height product screenshot */}&#10;  &lt;Box style={{ width: '720px', height: '100%', position: 'relative' }}&gt;&#10;    &lt;Image src='assets/home_en.png' style={{ width: '100%', height: '100%', objectFit: 'cover' }} /&gt;&#10;    &lt;Box style={{ position: 'absolute', left: 0, top: 0, width: '100%', height: '100%', background: 'linear-gradient(90deg,#FFFFFF 0%,rgba(255,255,255,0) 22%)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21875" r="21875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ln/>
        </p:spPr>
      </p:pic>
      <p:sp>
        <p:nvSpPr>
          <p:cNvPr id="4" name="矩形 3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22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" name="矩形: 圆角 4"/>
          <p:cNvSpPr/>
          <p:nvPr/>
        </p:nvSpPr>
        <p:spPr>
          <a:xfrm>
            <a:off x="609600" y="1295400"/>
            <a:ext cx="381000" cy="3810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1381125"/>
            <a:ext cx="209550" cy="209550"/>
          </a:xfrm>
          <a:prstGeom prst="rect">
            <a:avLst/>
          </a:prstGeom>
          <a:ln/>
        </p:spPr>
      </p:pic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609600" y="1943100"/>
            <a:ext cx="4724400" cy="1876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8000"/>
              </a:lnSpc>
            </a:pPr>
            <a:r>
              <a:rPr lang="en-US" sz="5700" b="1" dirty="0">
                <a:solidFill>
                  <a:srgbClr val="0F172A"/>
                </a:solidFill>
                <a:latin typeface="Microsoft YaHei"/>
                <a:ea typeface="Microsoft YaHei"/>
              </a:rPr>
              <a:t>Agentic</a:t>
            </a:r>
            <a:endParaRPr dirty="0"/>
          </a:p>
          <a:p>
            <a:pPr>
              <a:lnSpc>
                <a:spcPct val="108000"/>
              </a:lnSpc>
            </a:pPr>
            <a:r>
              <a:rPr lang="en-US" sz="5700" b="1" dirty="0" err="1">
                <a:solidFill>
                  <a:srgbClr val="0F172A"/>
                </a:solidFill>
                <a:latin typeface="Microsoft YaHei"/>
                <a:ea typeface="Microsoft YaHei"/>
              </a:rPr>
              <a:t>EduVerse</a:t>
            </a:r>
            <a:endParaRPr dirty="0"/>
          </a:p>
        </p:txBody>
      </p:sp>
      <p:sp>
        <p:nvSpPr>
          <p:cNvPr id="8" name="矩形: 圆角 7"/>
          <p:cNvSpPr/>
          <p:nvPr/>
        </p:nvSpPr>
        <p:spPr>
          <a:xfrm>
            <a:off x="609600" y="4067175"/>
            <a:ext cx="114300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085850" y="1409700"/>
            <a:ext cx="2714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225" dirty="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HACKMIT ROADSHOW · 2026</a:t>
            </a:r>
            <a:endParaRPr dirty="0"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609600" y="4362450"/>
            <a:ext cx="4724400" cy="676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14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One universe. Three portals.</a:t>
            </a:r>
            <a:endParaRPr/>
          </a:p>
          <a:p>
            <a:pPr>
              <a:lnSpc>
                <a:spcPct val="155000"/>
              </a:lnSpc>
            </a:pPr>
            <a:r>
              <a:rPr lang="en-US" sz="14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An AI classroom that already runs.</a:t>
            </a:r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09600" y="5419725"/>
            <a:ext cx="47244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dirty="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Team B</a:t>
            </a:r>
            <a:r>
              <a:rPr lang="en-US" altLang="zh-CN" sz="975" dirty="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inary</a:t>
            </a:r>
            <a:r>
              <a:rPr lang="en-US" sz="975" dirty="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 —  Jenny &amp; Elara Malvern College Chengdu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The world has a teaching gap&lt;/Text&gt;&#10;    &lt;Box style={{ width: 120, height: 4, borderRadius: 2, background: '#1D4ED8', marginTop: 10 }} /&gt;&#10;  &lt;/Box&gt;&#10;&#10;  {/* B · Two giant numbers */}&#10;  &lt;Box style={{ position: 'absolute', left: 64, right: 64, top: 140, flexDirection: 'row', gap: 32 }}&gt;&#10;    &lt;Box style={{ flex: 1, height: 400, background: '#F1F5F9', borderRadius: 16, padding: 40, flexDirection: 'column', justifyContent: 'space-between' }}&gt;&#10;      &lt;FAIcon name='chalkboard-teacher' style={{ fill: '#1D4ED8', width: 44, height: 44 }} /&gt;&#10;      &lt;Text style={{ fontSize: 104, fontWeight: 'bold', color: '#1D4ED8', lineHeight: 1 }}&gt;44M&lt;/Text&gt;&#10;      &lt;Text style={{ fontSize: 19, lineHeight: 1.5, color: '#0F172A' }}&gt;&#10;        more teachers are needed &lt;span style={{ fontWeight: 'bold' }}&gt;by 2030&lt;/span&gt; to give every child a classroom.&#10;      &lt;/Text&gt;&#10;      &lt;Text style={{ fontSize: 12, color: '#0F172A', opacity: 0.5 }}&gt;Source: UNESCO, Global Report on Teachers&lt;/Text&gt;&#10;    &lt;/Box&gt;&#10;    &lt;Box style={{ flex: 1, height: 400, background: '#F1F5F9', borderRadius: 16, padding: 40, flexDirection: 'column', justifyContent: 'space-between' }}&gt;&#10;      &lt;FAIcon name='book-open' style={{ fill: '#06B6D4', width: 44, height: 44 }} /&gt;&#10;      &lt;Text style={{ fontSize: 104, fontWeight: 'bold', color: '#0F172A', lineHeight: 1 }}&gt;&#10;        7&lt;span style={{ fontSize: 56, color: '#06B6D4' }}&gt;/10&lt;/span&gt;&#10;      &lt;/Text&gt;&#10;      &lt;Text style={{ fontSize: 19, lineHeight: 1.5, color: '#0F172A' }}&gt;&#10;        ten-year-olds in low- and middle-income countries &lt;span style={{ fontWeight: 'bold' }}&gt;cannot read a short story&lt;/span&gt;.&#10;      &lt;/Text&gt;&#10;      &lt;Text style={{ fontSize: 12, color: '#0F172A', opacity: 0.5 }}&gt;Source: World Bank, Learning Poverty&lt;/Text&gt;&#10;    &lt;/Box&gt;&#10;  &lt;/Box&gt;&#10;&#10;  {/* Punch line */}&#10;  &lt;Box style={{ position: 'absolute', left: 64, right: 64, top: 572, flexDirection: 'row', alignItems: 'center', gap: 14 }}&gt;&#10;    &lt;Box style={{ width: 6, height: 34, borderRadius: 3, background: '#06B6D4' }} /&gt;&#10;    &lt;Text style={{ fontSize: 21, fontWeight: 'bold', color: '#0F172A' }}&gt;&#10;      One teacher cannot be everywhere. We built software that helps the whole room learn together.&#10;    &lt;/Text&gt;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02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 1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609600" y="190500"/>
            <a:ext cx="47910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The world has a teaching gap</a:t>
            </a:r>
            <a:endParaRPr/>
          </a:p>
        </p:txBody>
      </p:sp>
      <p:sp>
        <p:nvSpPr>
          <p:cNvPr id="191" name="矩形: 圆角 190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" name="矩形: 圆角 191"/>
          <p:cNvSpPr/>
          <p:nvPr/>
        </p:nvSpPr>
        <p:spPr>
          <a:xfrm>
            <a:off x="609600" y="1333500"/>
            <a:ext cx="5334000" cy="3810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3" name="图形 1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1714500"/>
            <a:ext cx="419100" cy="419100"/>
          </a:xfrm>
          <a:prstGeom prst="rect">
            <a:avLst/>
          </a:prstGeom>
          <a:ln/>
        </p:spPr>
      </p:pic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990600" y="2343150"/>
            <a:ext cx="4572000" cy="1190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1D4ED8"/>
                </a:solidFill>
                <a:latin typeface="Microsoft YaHei"/>
                <a:ea typeface="Microsoft YaHei"/>
              </a:rPr>
              <a:t>44M</a:t>
            </a:r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990600" y="3752850"/>
            <a:ext cx="45720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more teachers are needed 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by 2030</a:t>
            </a: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 to give every child a classroom.</a:t>
            </a:r>
            <a:endParaRPr/>
          </a:p>
        </p:txBody>
      </p:sp>
      <p:sp>
        <p:nvSpPr>
          <p:cNvPr id="196" name="矩形: 圆角 195"/>
          <p:cNvSpPr/>
          <p:nvPr/>
        </p:nvSpPr>
        <p:spPr>
          <a:xfrm>
            <a:off x="6248400" y="1333500"/>
            <a:ext cx="5334000" cy="3810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7" name="图形 19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400" y="1714500"/>
            <a:ext cx="419100" cy="419100"/>
          </a:xfrm>
          <a:prstGeom prst="rect">
            <a:avLst/>
          </a:prstGeom>
          <a:ln/>
        </p:spPr>
      </p:pic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6629400" y="2343150"/>
            <a:ext cx="4572000" cy="1190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0F172A"/>
                </a:solidFill>
                <a:latin typeface="Microsoft YaHei"/>
                <a:ea typeface="Microsoft YaHei"/>
              </a:rPr>
              <a:t>7</a:t>
            </a:r>
            <a:r>
              <a:rPr lang="en-US" sz="4200" b="1">
                <a:solidFill>
                  <a:srgbClr val="06B6D4"/>
                </a:solidFill>
                <a:latin typeface="Microsoft YaHei"/>
                <a:ea typeface="Microsoft YaHei"/>
              </a:rPr>
              <a:t>/10</a:t>
            </a:r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629400" y="3752850"/>
            <a:ext cx="45720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ten-year-olds in low- and middle-income countries 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cannot read a short story</a:t>
            </a: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990600" y="4619625"/>
            <a:ext cx="45720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Source: UNESCO, Global Report on Teachers</a:t>
            </a:r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6629400" y="4619625"/>
            <a:ext cx="45720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Source: World Bank, Learning Poverty</a:t>
            </a:r>
            <a:endParaRPr/>
          </a:p>
        </p:txBody>
      </p:sp>
      <p:sp>
        <p:nvSpPr>
          <p:cNvPr id="202" name="矩形: 圆角 201"/>
          <p:cNvSpPr/>
          <p:nvPr/>
        </p:nvSpPr>
        <p:spPr>
          <a:xfrm>
            <a:off x="609600" y="54483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800100" y="5486400"/>
            <a:ext cx="96869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Microsoft YaHei"/>
                <a:ea typeface="Microsoft YaHei"/>
              </a:rPr>
              <a:t>One teacher cannot be everywhere. We built software that helps the whole room learn together.</a:t>
            </a:r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Our solution: one platform, three doors&lt;/Text&gt;&#10;    &lt;Box style={{ width: 120, height: 4, borderRadius: 2, background: '#1D4ED8', marginTop: 10 }} /&gt;&#10;  &lt;/Box&gt;&#10;&#10;  &lt;Text style={{ position: 'absolute', left: 64, top: 108, fontSize: 17, lineHeight: 1.5, color: '#0F172A', opacity: 0.72 }}&gt;&#10;    Most tools serve one person. Agentic EduVerse connects the teacher, the student and the parent — in one live classroom.&#10;  &lt;/Text&gt;&#10;&#10;  {/* B · Three portal cards */}&#10;  &lt;Box style={{ position: 'absolute', left: 64, right: 64, top: 168, flexDirection: 'row', gap: 28 }}&gt;&#10;    {[&#10;      { icon: 'chalkboard-teacher', name: 'Teacher', line: 'Runs the live lesson, uploads materials, records the class.' },&#10;      { icon: 'user-graduate', name: 'Student', line: 'Joins with a room code, learns with five AI companions, earns coins.' },&#10;      { icon: 'users', name: 'Parent', line: 'Links through a verified invite and follows progress every week.' },&#10;    ].map((p) =&gt; (&#10;      &lt;Box key={p.name} style={{ flex: 1, height: 190, background: '#F1F5F9', borderRadius: 14, padding: 26, flexDirection: 'column', justifyContent: 'space-between' }}&gt;&#10;        &lt;Box style={{ flexDirection: 'row', alignItems: 'center', gap: 12 }}&gt;&#10;          &lt;Box style={{ width: 46, height: 46, borderRadius: 12, background: '#1D4ED8', justifyContent: 'center', alignItems: 'center' }}&gt;&#10;            &lt;FAIcon name={p.icon} style={{ fill: '#FFFFFF', width: 24, height: 24 }} /&gt;&#10;          &lt;/Box&gt;&#10;          &lt;Text style={{ fontSize: 21, fontWeight: 'bold', color: '#0F172A' }}&gt;{p.name}&lt;/Text&gt;&#10;        &lt;/Box&gt;&#10;        &lt;Text style={{ fontSize: 15, lineHeight: 1.5, color: '#0F172A', opacity: 0.75 }}&gt;{p.line}&lt;/Text&gt;&#10;      &lt;/Box&gt;&#10;    ))}&#10;  &lt;/Box&gt;&#10;&#10;  {/* Connectors */}&#10;  &lt;Box style={{ position: 'absolute', left: 0, right: 0, top: 372, flexDirection: 'row', justifyContent: 'center', gap: 320 }}&gt;&#10;    &lt;FAIcon name='arrow-down' style={{ fill: '#1D4ED8', width: 26, height: 26 }} /&gt;&#10;    &lt;FAIcon name='arrow-down' style={{ fill: '#1D4ED8', width: 26, height: 26 }} /&gt;&#10;    &lt;FAIcon name='arrow-down' style={{ fill: '#1D4ED8', width: 26, height: 26 }} /&gt;&#10;  &lt;/Box&gt;&#10;&#10;  {/* Central platform bar */}&#10;  &lt;Box style={{ position: 'absolute', left: 64, right: 64, top: 420, height: 150, borderRadius: 16, background: 'linear-gradient(135deg,#1D4ED8 0%,#06B6D4 100%)', padding: '24px 40px', flexDirection: 'column', justifyContent: 'space-between' }}&gt;&#10;    &lt;Text style={{ fontSize: 22, fontWeight: 'bold', color: '#FFFFFF' }}&gt;One shared platform&lt;/Text&gt;&#10;    &lt;Box style={{ flexDirection: 'row', gap: 36, alignItems: 'center' }}&gt;&#10;      {['Live video classroom', 'AI companions &amp; translator', 'Learning record &amp; reports', '8 interface languages'].map((f) =&gt; (&#10;        &lt;Box key={f} style={{ flexDirection: 'row', alignItems: 'center', gap: 8 }}&gt;&#10;          &lt;FAIcon name='check-circle' style={{ fill: '#FFFFFF', width: 18, height: 18 }} /&gt;&#10;          &lt;Text style={{ fontSize: 15, color: '#FFFFFF' }}&gt;{f}&lt;/Text&gt;&#10;        &lt;/Box&gt;&#10;      ))}&#10;    &lt;/Box&gt;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03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矩形 2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09600" y="190500"/>
            <a:ext cx="6457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Our solution: one platform, three doors</a:t>
            </a:r>
            <a:endParaRPr/>
          </a:p>
        </p:txBody>
      </p:sp>
      <p:sp>
        <p:nvSpPr>
          <p:cNvPr id="209" name="矩形: 圆角 208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609600" y="1028700"/>
            <a:ext cx="94107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Most tools serve one person. Agentic EduVerse connects the teacher, the student and the parent — in one live classroom.</a:t>
            </a:r>
            <a:endParaRPr/>
          </a:p>
        </p:txBody>
      </p:sp>
      <p:sp>
        <p:nvSpPr>
          <p:cNvPr id="211" name="矩形: 圆角 210"/>
          <p:cNvSpPr/>
          <p:nvPr/>
        </p:nvSpPr>
        <p:spPr>
          <a:xfrm>
            <a:off x="609600" y="1600200"/>
            <a:ext cx="3476625" cy="180975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矩形: 圆角 211"/>
          <p:cNvSpPr/>
          <p:nvPr/>
        </p:nvSpPr>
        <p:spPr>
          <a:xfrm>
            <a:off x="857250" y="18478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3" name="图形 2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025" y="1952625"/>
            <a:ext cx="228600" cy="228600"/>
          </a:xfrm>
          <a:prstGeom prst="rect">
            <a:avLst/>
          </a:prstGeom>
          <a:ln/>
        </p:spPr>
      </p:pic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409700" y="1943100"/>
            <a:ext cx="7715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Microsoft YaHei"/>
                <a:ea typeface="Microsoft YaHei"/>
              </a:rPr>
              <a:t>Teacher</a:t>
            </a:r>
            <a:endParaRPr/>
          </a:p>
        </p:txBody>
      </p:sp>
      <p:sp>
        <p:nvSpPr>
          <p:cNvPr id="215" name="矩形: 圆角 214"/>
          <p:cNvSpPr/>
          <p:nvPr/>
        </p:nvSpPr>
        <p:spPr>
          <a:xfrm>
            <a:off x="4352925" y="1600200"/>
            <a:ext cx="3486150" cy="180975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6" name="矩形: 圆角 215"/>
          <p:cNvSpPr/>
          <p:nvPr/>
        </p:nvSpPr>
        <p:spPr>
          <a:xfrm>
            <a:off x="4600575" y="18478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7" name="图形 2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350" y="1952625"/>
            <a:ext cx="228600" cy="228600"/>
          </a:xfrm>
          <a:prstGeom prst="rect">
            <a:avLst/>
          </a:prstGeom>
          <a:ln/>
        </p:spPr>
      </p:pic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5153025" y="1943100"/>
            <a:ext cx="7905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Microsoft YaHei"/>
                <a:ea typeface="Microsoft YaHei"/>
              </a:rPr>
              <a:t>Student</a:t>
            </a:r>
            <a:endParaRPr/>
          </a:p>
        </p:txBody>
      </p:sp>
      <p:sp>
        <p:nvSpPr>
          <p:cNvPr id="219" name="矩形: 圆角 218"/>
          <p:cNvSpPr/>
          <p:nvPr/>
        </p:nvSpPr>
        <p:spPr>
          <a:xfrm>
            <a:off x="8105775" y="1600200"/>
            <a:ext cx="3476625" cy="180975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0" name="矩形: 圆角 219"/>
          <p:cNvSpPr/>
          <p:nvPr/>
        </p:nvSpPr>
        <p:spPr>
          <a:xfrm>
            <a:off x="8353425" y="18478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1" name="图形 2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8200" y="1952625"/>
            <a:ext cx="228600" cy="228600"/>
          </a:xfrm>
          <a:prstGeom prst="rect">
            <a:avLst/>
          </a:prstGeom>
          <a:ln/>
        </p:spPr>
      </p:pic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8905875" y="1943100"/>
            <a:ext cx="657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Microsoft YaHei"/>
                <a:ea typeface="Microsoft YaHei"/>
              </a:rPr>
              <a:t>Parent</a:t>
            </a:r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857250" y="2647950"/>
            <a:ext cx="29813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0F172A">
                    <a:alpha val="75000"/>
                  </a:srgbClr>
                </a:solidFill>
                <a:latin typeface="Microsoft YaHei"/>
                <a:ea typeface="Microsoft YaHei"/>
              </a:rPr>
              <a:t>Runs the live lesson, uploads materials, records the class.</a:t>
            </a:r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4600575" y="2647950"/>
            <a:ext cx="29908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0F172A">
                    <a:alpha val="75000"/>
                  </a:srgbClr>
                </a:solidFill>
                <a:latin typeface="Microsoft YaHei"/>
                <a:ea typeface="Microsoft YaHei"/>
              </a:rPr>
              <a:t>Joins with a room code, learns with five AI companions, earns coins.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8353425" y="2647950"/>
            <a:ext cx="29813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0F172A">
                    <a:alpha val="75000"/>
                  </a:srgbClr>
                </a:solidFill>
                <a:latin typeface="Microsoft YaHei"/>
                <a:ea typeface="Microsoft YaHei"/>
              </a:rPr>
              <a:t>Links through a verified invite and follows progress every week.</a:t>
            </a:r>
            <a:endParaRPr/>
          </a:p>
        </p:txBody>
      </p:sp>
      <p:pic>
        <p:nvPicPr>
          <p:cNvPr id="226" name="图形 2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76525" y="3543300"/>
            <a:ext cx="247650" cy="247650"/>
          </a:xfrm>
          <a:prstGeom prst="rect">
            <a:avLst/>
          </a:prstGeom>
          <a:ln/>
        </p:spPr>
      </p:pic>
      <p:pic>
        <p:nvPicPr>
          <p:cNvPr id="227" name="图形 2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2175" y="3543300"/>
            <a:ext cx="247650" cy="247650"/>
          </a:xfrm>
          <a:prstGeom prst="rect">
            <a:avLst/>
          </a:prstGeom>
          <a:ln/>
        </p:spPr>
      </p:pic>
      <p:pic>
        <p:nvPicPr>
          <p:cNvPr id="228" name="图形 2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7825" y="3543300"/>
            <a:ext cx="247650" cy="247650"/>
          </a:xfrm>
          <a:prstGeom prst="rect">
            <a:avLst/>
          </a:prstGeom>
          <a:ln/>
        </p:spPr>
      </p:pic>
      <p:sp>
        <p:nvSpPr>
          <p:cNvPr id="229" name="矩形: 圆角 228"/>
          <p:cNvSpPr/>
          <p:nvPr/>
        </p:nvSpPr>
        <p:spPr>
          <a:xfrm>
            <a:off x="609600" y="4000500"/>
            <a:ext cx="10972800" cy="1428750"/>
          </a:xfrm>
          <a:prstGeom prst="roundRect">
            <a:avLst>
              <a:gd name="adj" fmla="val 10667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90600" y="4229100"/>
            <a:ext cx="102108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One shared platform</a:t>
            </a:r>
            <a:endParaRPr/>
          </a:p>
        </p:txBody>
      </p:sp>
      <p:pic>
        <p:nvPicPr>
          <p:cNvPr id="231" name="图形 2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5029200"/>
            <a:ext cx="171450" cy="171450"/>
          </a:xfrm>
          <a:prstGeom prst="rect">
            <a:avLst/>
          </a:prstGeom>
          <a:ln/>
        </p:spPr>
      </p:pic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238250" y="5029200"/>
            <a:ext cx="14192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Live video classroom</a:t>
            </a:r>
            <a:endParaRPr/>
          </a:p>
        </p:txBody>
      </p:sp>
      <p:pic>
        <p:nvPicPr>
          <p:cNvPr id="233" name="图形 2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0375" y="5029200"/>
            <a:ext cx="171450" cy="171450"/>
          </a:xfrm>
          <a:prstGeom prst="rect">
            <a:avLst/>
          </a:prstGeom>
          <a:ln/>
        </p:spPr>
      </p:pic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3248025" y="5029200"/>
            <a:ext cx="18859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AI companions &amp; translator</a:t>
            </a:r>
            <a:endParaRPr/>
          </a:p>
        </p:txBody>
      </p:sp>
      <p:pic>
        <p:nvPicPr>
          <p:cNvPr id="235" name="图形 2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75" y="5029200"/>
            <a:ext cx="171450" cy="171450"/>
          </a:xfrm>
          <a:prstGeom prst="rect">
            <a:avLst/>
          </a:prstGeom>
          <a:ln/>
        </p:spPr>
      </p:pic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5724525" y="5029200"/>
            <a:ext cx="178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Learning record &amp; reports</a:t>
            </a:r>
            <a:endParaRPr/>
          </a:p>
        </p:txBody>
      </p:sp>
      <p:pic>
        <p:nvPicPr>
          <p:cNvPr id="237" name="图形 2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8600" y="5029200"/>
            <a:ext cx="171450" cy="171450"/>
          </a:xfrm>
          <a:prstGeom prst="rect">
            <a:avLst/>
          </a:prstGeom>
          <a:ln/>
        </p:spPr>
      </p:pic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8096250" y="5029200"/>
            <a:ext cx="1476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8 interface languages</a:t>
            </a:r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Teacher portal: run the whole lesson&lt;/Text&gt;&#10;    &lt;Box style={{ width: 120, height: 4, borderRadius: 2, background: '#1D4ED8', marginTop: 10 }} /&gt;&#10;  &lt;/Box&gt;&#10;&#10;  {/* Left: text column */}&#10;  &lt;Box style={{ position: 'absolute', left: 64, top: 150, width: 430, flexDirection: 'column', gap: 26 }}&gt;&#10;    {[&#10;      { icon: 'plus-circle', h: 'Create a class in one minute', p: 'Every class gets a 6-character room code and an optional password.' },&#10;      { icon: 'video', h: 'One click goes live', p: 'HD camera, microphone and screen share inside the browser.' },&#10;      { icon: 'file-upload', h: 'Share materials instantly', p: 'Students see new files the moment they are uploaded — no refresh.' },&#10;      { icon: 'users', h: 'Invite parents safely', p: 'A signed link valid for 24 hours, tied to one verified email.' },&#10;    ].map((f) =&gt; (&#10;      &lt;Box key={f.h} style={{ flexDirection: 'row', gap: 16, alignItems: 'flex-start' }}&gt;&#10;        &lt;FAIcon name={f.icon} style={{ fill: '#1D4ED8', width: 26, height: 26, marginTop: 2 }} /&gt;&#10;        &lt;Box style={{ flex: 1, flexDirection: 'column', gap: 5 }}&gt;&#10;          &lt;Text style={{ fontSize: 17, fontWeight: 'bold', color: '#0F172A' }}&gt;{f.h}&lt;/Text&gt;&#10;          &lt;Text style={{ fontSize: 14, lineHeight: 1.5, color: '#0F172A', opacity: 0.68 }}&gt;{f.p}&lt;/Text&gt;&#10;        &lt;/Box&gt;&#10;      &lt;/Box&gt;&#10;    ))}&#10;  &lt;/Box&gt;&#10;&#10;  {/* Right: screenshot card */}&#10;  &lt;Box style={{ position: 'absolute', right: 64, top: 150, width: 660, background: '#F1F5F9', borderRadius: 14, padding: 14, boxShadow: '0 8px 28px rgba(15,23,42,0.14)' }}&gt;&#10;    &lt;Image src='assets/teacher_en.png' style={{ width: '100%', height: 354, objectFit: 'cover', borderRadius: 8 }} /&gt;&#10;    &lt;Text style={{ fontSize: 12, color: '#0F172A', opacity: 0.55, marginTop: 10, textAlign: 'center' }}&gt;&#10;      Real product — class cards with room codes and a live status badge&#10;    &lt;/Text&gt;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04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矩形 2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609600" y="190500"/>
            <a:ext cx="59150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Teacher portal: run the whole lesson</a:t>
            </a:r>
            <a:endParaRPr/>
          </a:p>
        </p:txBody>
      </p:sp>
      <p:sp>
        <p:nvSpPr>
          <p:cNvPr id="244" name="矩形: 圆角 243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5" name="图形 2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447800"/>
            <a:ext cx="247650" cy="247650"/>
          </a:xfrm>
          <a:prstGeom prst="rect">
            <a:avLst/>
          </a:prstGeom>
          <a:ln/>
        </p:spPr>
      </p:pic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1009650" y="1428750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Create a class in one minute</a:t>
            </a:r>
            <a:endParaRPr/>
          </a:p>
        </p:txBody>
      </p:sp>
      <p:pic>
        <p:nvPicPr>
          <p:cNvPr id="247" name="图形 2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2428875"/>
            <a:ext cx="247650" cy="247650"/>
          </a:xfrm>
          <a:prstGeom prst="rect">
            <a:avLst/>
          </a:prstGeom>
          <a:ln/>
        </p:spPr>
      </p:pic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1009650" y="2409825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One click goes live</a:t>
            </a:r>
            <a:endParaRPr/>
          </a:p>
        </p:txBody>
      </p:sp>
      <p:pic>
        <p:nvPicPr>
          <p:cNvPr id="249" name="图形 2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3409950"/>
            <a:ext cx="247650" cy="247650"/>
          </a:xfrm>
          <a:prstGeom prst="rect">
            <a:avLst/>
          </a:prstGeom>
          <a:ln/>
        </p:spPr>
      </p:pic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009650" y="3390900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Share materials instantly</a:t>
            </a:r>
            <a:endParaRPr/>
          </a:p>
        </p:txBody>
      </p:sp>
      <p:pic>
        <p:nvPicPr>
          <p:cNvPr id="251" name="图形 2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391025"/>
            <a:ext cx="247650" cy="247650"/>
          </a:xfrm>
          <a:prstGeom prst="rect">
            <a:avLst/>
          </a:prstGeom>
          <a:ln/>
        </p:spPr>
      </p:pic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1009650" y="4371975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Invite parents safely</a:t>
            </a:r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1009650" y="1676400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Every class gets a 6-character room code and an optional password.</a:t>
            </a:r>
            <a:endParaRPr/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1009650" y="2657475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HD camera, microphone and screen share inside the browser.</a:t>
            </a:r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1009650" y="3638550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Students see new files the moment they are uploaded — no refresh.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009650" y="4619625"/>
            <a:ext cx="36957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A signed link valid for 24 hours, tied to one verified email.</a:t>
            </a:r>
            <a:endParaRPr/>
          </a:p>
        </p:txBody>
      </p:sp>
      <p:sp>
        <p:nvSpPr>
          <p:cNvPr id="257" name="矩形: 圆角 256"/>
          <p:cNvSpPr/>
          <p:nvPr/>
        </p:nvSpPr>
        <p:spPr>
          <a:xfrm>
            <a:off x="5295900" y="1428750"/>
            <a:ext cx="6286500" cy="3876675"/>
          </a:xfrm>
          <a:prstGeom prst="roundRect">
            <a:avLst>
              <a:gd name="adj" fmla="val 3440"/>
            </a:avLst>
          </a:prstGeom>
          <a:solidFill>
            <a:srgbClr val="F1F5F9"/>
          </a:solidFill>
          <a:ln/>
          <a:effectLst>
            <a:outerShdw blurRad="266700" dist="76200" dir="540000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8" name="图片 257"/>
          <p:cNvPicPr>
            <a:picLocks noChangeAspect="1"/>
          </p:cNvPicPr>
          <p:nvPr/>
        </p:nvPicPr>
        <p:blipFill>
          <a:blip r:embed="rId6"/>
          <a:srcRect t="210" b="210"/>
          <a:stretch>
            <a:fillRect/>
          </a:stretch>
        </p:blipFill>
        <p:spPr>
          <a:xfrm>
            <a:off x="5429250" y="1562100"/>
            <a:ext cx="6019800" cy="3371850"/>
          </a:xfrm>
          <a:prstGeom prst="roundRect">
            <a:avLst>
              <a:gd name="adj" fmla="val 2260"/>
            </a:avLst>
          </a:prstGeom>
          <a:ln/>
        </p:spPr>
      </p:pic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5429250" y="5029200"/>
            <a:ext cx="601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Real product — class cards with room codes and a live status badge</a:t>
            </a:r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Student portal: progress you can feel&lt;/Text&gt;&#10;    &lt;Box style={{ width: 120, height: 4, borderRadius: 2, background: '#1D4ED8', marginTop: 10 }} /&gt;&#10;  &lt;/Box&gt;&#10;&#10;  {/* Left: screenshot card (mirrored layout vs. slide 04) */}&#10;  &lt;Box style={{ position: 'absolute', left: 64, top: 150, width: 660, background: '#F1F5F9', borderRadius: 14, padding: 14, boxShadow: '0 8px 28px rgba(15,23,42,0.14)' }}&gt;&#10;    &lt;Image src='assets/student_en.png' style={{ width: '100%', height: 354, objectFit: 'cover', borderRadius: 8 }} /&gt;&#10;    &lt;Text style={{ fontSize: 12, color: '#0F172A', opacity: 0.55, marginTop: 10, textAlign: 'center' }}&gt;&#10;      Real product — weekly stats, coins and one-tap class joining&#10;    &lt;/Text&gt;&#10;  &lt;/Box&gt;&#10;&#10;  {/* Right: text column */}&#10;  &lt;Box style={{ position: 'absolute', right: 64, top: 150, width: 430, flexDirection: 'column', gap: 26 }}&gt;&#10;    {[&#10;      { icon: 'key', h: 'Join with a room code', p: 'Codes avoid look-alike characters (no 0, 1, I, O) and ignore letter case.' },&#10;      { icon: 'coins', h: 'Coins for real effort', p: 'Joining a class, answering and practising all earn coins.' },&#10;      { icon: 'chart-line', h: 'Weekly progress, made visible', p: 'Study time, answer accuracy and weak spots on one small card.' },&#10;      { icon: 'door-open', h: 'Enter the live classroom', p: 'Students watch the teacher, join the whiteboard and raise a hand.' },&#10;    ].map((f) =&gt; (&#10;      &lt;Box key={f.h} style={{ flexDirection: 'row', gap: 16, alignItems: 'flex-start' }}&gt;&#10;        &lt;FAIcon name={f.icon} style={{ fill: '#1D4ED8', width: 26, height: 26, marginTop: 2 }} /&gt;&#10;        &lt;Box style={{ flex: 1, flexDirection: 'column', gap: 5 }}&gt;&#10;          &lt;Text style={{ fontSize: 17, fontWeight: 'bold', color: '#0F172A' }}&gt;{f.h}&lt;/Text&gt;&#10;          &lt;Text style={{ fontSize: 14, lineHeight: 1.5, color: '#0F172A', opacity: 0.68 }}&gt;{f.p}&lt;/Text&gt;&#10;        &lt;/Box&gt;&#10;      &lt;/Box&gt;&#10;    ))}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05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矩形 2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09600" y="190500"/>
            <a:ext cx="60483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Student portal: progress you can feel</a:t>
            </a:r>
            <a:endParaRPr/>
          </a:p>
        </p:txBody>
      </p:sp>
      <p:sp>
        <p:nvSpPr>
          <p:cNvPr id="265" name="矩形: 圆角 264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6" name="矩形: 圆角 265"/>
          <p:cNvSpPr/>
          <p:nvPr/>
        </p:nvSpPr>
        <p:spPr>
          <a:xfrm>
            <a:off x="609600" y="1428750"/>
            <a:ext cx="6286500" cy="3876675"/>
          </a:xfrm>
          <a:prstGeom prst="roundRect">
            <a:avLst>
              <a:gd name="adj" fmla="val 3440"/>
            </a:avLst>
          </a:prstGeom>
          <a:solidFill>
            <a:srgbClr val="F1F5F9"/>
          </a:solidFill>
          <a:ln/>
          <a:effectLst>
            <a:outerShdw blurRad="266700" dist="76200" dir="540000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7" name="图片 266"/>
          <p:cNvPicPr>
            <a:picLocks noChangeAspect="1"/>
          </p:cNvPicPr>
          <p:nvPr/>
        </p:nvPicPr>
        <p:blipFill>
          <a:blip r:embed="rId2"/>
          <a:srcRect t="210" b="210"/>
          <a:stretch>
            <a:fillRect/>
          </a:stretch>
        </p:blipFill>
        <p:spPr>
          <a:xfrm>
            <a:off x="742950" y="1562100"/>
            <a:ext cx="6019800" cy="3371850"/>
          </a:xfrm>
          <a:prstGeom prst="roundRect">
            <a:avLst>
              <a:gd name="adj" fmla="val 2260"/>
            </a:avLst>
          </a:prstGeom>
          <a:ln/>
        </p:spPr>
      </p:pic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742950" y="5029200"/>
            <a:ext cx="601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Real product — weekly stats, coins and one-tap class joining</a:t>
            </a:r>
            <a:endParaRPr/>
          </a:p>
        </p:txBody>
      </p:sp>
      <p:pic>
        <p:nvPicPr>
          <p:cNvPr id="269" name="图形 2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6650" y="1447800"/>
            <a:ext cx="247650" cy="247650"/>
          </a:xfrm>
          <a:prstGeom prst="rect">
            <a:avLst/>
          </a:prstGeom>
          <a:ln/>
        </p:spPr>
      </p:pic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7886700" y="1428750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Join with a room code</a:t>
            </a:r>
            <a:endParaRPr/>
          </a:p>
        </p:txBody>
      </p:sp>
      <p:pic>
        <p:nvPicPr>
          <p:cNvPr id="271" name="图形 2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6650" y="2428875"/>
            <a:ext cx="247650" cy="247650"/>
          </a:xfrm>
          <a:prstGeom prst="rect">
            <a:avLst/>
          </a:prstGeom>
          <a:ln/>
        </p:spPr>
      </p:pic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7886700" y="2409825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Coins for real effort</a:t>
            </a:r>
            <a:endParaRPr/>
          </a:p>
        </p:txBody>
      </p:sp>
      <p:pic>
        <p:nvPicPr>
          <p:cNvPr id="273" name="图形 2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6650" y="3171825"/>
            <a:ext cx="247650" cy="247650"/>
          </a:xfrm>
          <a:prstGeom prst="rect">
            <a:avLst/>
          </a:prstGeom>
          <a:ln/>
        </p:spPr>
      </p:pic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7886700" y="3152775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Weekly progress, made visible</a:t>
            </a:r>
            <a:endParaRPr/>
          </a:p>
        </p:txBody>
      </p:sp>
      <p:pic>
        <p:nvPicPr>
          <p:cNvPr id="275" name="图形 2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6650" y="4152900"/>
            <a:ext cx="247650" cy="247650"/>
          </a:xfrm>
          <a:prstGeom prst="rect">
            <a:avLst/>
          </a:prstGeom>
          <a:ln/>
        </p:spPr>
      </p:pic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7886700" y="4133850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Enter the live classroom</a:t>
            </a:r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7886700" y="1676400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Codes avoid look-alike characters (no 0, 1, I, O) and ignore letter case.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7886700" y="2657475"/>
            <a:ext cx="36957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Joining a class, answering and practising all earn coins.</a:t>
            </a:r>
            <a:endParaRPr/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7886700" y="3400425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Study time, answer accuracy and weak spots on one small card.</a:t>
            </a:r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7886700" y="4381500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Students watch the teacher, join the whiteboard and raise a hand.</a:t>
            </a:r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The AI companion teaches — it does not cheat&lt;/Text&gt;&#10;    &lt;Box style={{ width: 120, height: 4, borderRadius: 2, background: '#06B6D4', marginTop: 10 }} /&gt;&#10;  &lt;/Box&gt;&#10;&#10;  {/* Left: screenshot */}&#10;  &lt;Box style={{ position: 'absolute', left: 64, top: 145, width: 680, background: '#F1F5F9', borderRadius: 14, padding: 14, boxShadow: '0 8px 28px rgba(15,23,42,0.14)' }}&gt;&#10;    &lt;Image src='assets/tutor_en.png' style={{ width: '100%', height: 366, objectFit: 'cover', borderRadius: 8 }} /&gt;&#10;    &lt;Text style={{ fontSize: 12, color: '#0F172A', opacity: 0.55, marginTop: 10, textAlign: 'center' }}&gt;&#10;      Real product — the answer comes with 5 real teacher videos below it&#10;    &lt;/Text&gt;&#10;  &lt;/Box&gt;&#10;&#10;  {/* Right: feature stack */}&#10;  &lt;Box style={{ position: 'absolute', right: 64, top: 150, width: 400, flexDirection: 'column', gap: 20 }}&gt;&#10;    &lt;Box style={{ background: 'rgba(6,182,212,0.10)', borderRadius: 12, padding: 18, flexDirection: 'column', gap: 6 }}&gt;&#10;      &lt;Text style={{ fontSize: 18, fontWeight: 'bold', color: '#0F172A' }}&gt;Guided, not instant&lt;/Text&gt;&#10;      &lt;Text style={{ fontSize: 14, lineHeight: 1.5, color: '#0F172A', opacity: 0.72 }}&gt;&#10;        The AI asks questions back and gives a practice problem — the student still thinks.&#10;      &lt;/Text&gt;&#10;    &lt;/Box&gt;&#10;    {[&#10;      { icon: 'book', h: 'Five subject companions', p: 'Maths, Chinese, English, coding and general — each keeps its own chat history.' },&#10;      { icon: 'video', h: 'Five real videos per answer', p: 'Found in about one second from public teaching videos. One click opens the video.' },&#10;      { icon: 'history', h: 'Nothing gets lost', p: 'Every session is saved per companion and can be reopened from history.' },&#10;    ].map((f) =&gt; (&#10;      &lt;Box key={f.h} style={{ flexDirection: 'row', gap: 14, alignItems: 'flex-start' }}&gt;&#10;        &lt;FAIcon name={f.icon} style={{ fill: '#1D4ED8', width: 24, height: 24, marginTop: 2 }} /&gt;&#10;        &lt;Box style={{ flex: 1, flexDirection: 'column', gap: 4 }}&gt;&#10;          &lt;Text style={{ fontSize: 16, fontWeight: 'bold', color: '#0F172A' }}&gt;{f.h}&lt;/Text&gt;&#10;          &lt;Text style={{ fontSize: 13.5, lineHeight: 1.5, color: '#0F172A', opacity: 0.68 }}&gt;{f.p}&lt;/Text&gt;&#10;        &lt;/Box&gt;&#10;      &lt;/Box&gt;&#10;    ))}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06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矩形 2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609600" y="190500"/>
            <a:ext cx="75819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The AI companion teaches — it does not cheat</a:t>
            </a:r>
            <a:endParaRPr/>
          </a:p>
        </p:txBody>
      </p:sp>
      <p:sp>
        <p:nvSpPr>
          <p:cNvPr id="286" name="矩形: 圆角 285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7" name="矩形: 圆角 286"/>
          <p:cNvSpPr/>
          <p:nvPr/>
        </p:nvSpPr>
        <p:spPr>
          <a:xfrm>
            <a:off x="609600" y="1381125"/>
            <a:ext cx="6477000" cy="3990975"/>
          </a:xfrm>
          <a:prstGeom prst="roundRect">
            <a:avLst>
              <a:gd name="adj" fmla="val 3341"/>
            </a:avLst>
          </a:prstGeom>
          <a:solidFill>
            <a:srgbClr val="F1F5F9"/>
          </a:solidFill>
          <a:ln/>
          <a:effectLst>
            <a:outerShdw blurRad="266700" dist="76200" dir="540000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8" name="图片 287"/>
          <p:cNvPicPr>
            <a:picLocks noChangeAspect="1"/>
          </p:cNvPicPr>
          <p:nvPr/>
        </p:nvPicPr>
        <p:blipFill>
          <a:blip r:embed="rId2"/>
          <a:srcRect t="102" b="102"/>
          <a:stretch>
            <a:fillRect/>
          </a:stretch>
        </p:blipFill>
        <p:spPr>
          <a:xfrm>
            <a:off x="742950" y="1514475"/>
            <a:ext cx="6210300" cy="3486150"/>
          </a:xfrm>
          <a:prstGeom prst="roundRect">
            <a:avLst>
              <a:gd name="adj" fmla="val 2186"/>
            </a:avLst>
          </a:prstGeom>
          <a:ln/>
        </p:spPr>
      </p:pic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742950" y="5095875"/>
            <a:ext cx="62103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Real product — the answer comes with 5 real teacher videos below it</a:t>
            </a:r>
            <a:endParaRPr/>
          </a:p>
        </p:txBody>
      </p:sp>
      <p:sp>
        <p:nvSpPr>
          <p:cNvPr id="290" name="矩形: 圆角 289"/>
          <p:cNvSpPr/>
          <p:nvPr/>
        </p:nvSpPr>
        <p:spPr>
          <a:xfrm>
            <a:off x="7772400" y="1428750"/>
            <a:ext cx="3810000" cy="1095375"/>
          </a:xfrm>
          <a:prstGeom prst="roundRect">
            <a:avLst>
              <a:gd name="adj" fmla="val 10435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7943850" y="1600200"/>
            <a:ext cx="3467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Guided, not instant</a:t>
            </a:r>
            <a:endParaRPr/>
          </a:p>
        </p:txBody>
      </p:sp>
      <p:pic>
        <p:nvPicPr>
          <p:cNvPr id="292" name="图形 29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0" y="2733675"/>
            <a:ext cx="228600" cy="228600"/>
          </a:xfrm>
          <a:prstGeom prst="rect">
            <a:avLst/>
          </a:prstGeom>
          <a:ln/>
        </p:spPr>
      </p:pic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8134350" y="2714625"/>
            <a:ext cx="3448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Five subject companions</a:t>
            </a:r>
            <a:endParaRPr/>
          </a:p>
        </p:txBody>
      </p:sp>
      <p:pic>
        <p:nvPicPr>
          <p:cNvPr id="294" name="图形 29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0" y="3619500"/>
            <a:ext cx="228600" cy="228600"/>
          </a:xfrm>
          <a:prstGeom prst="rect">
            <a:avLst/>
          </a:prstGeom>
          <a:ln/>
        </p:spPr>
      </p:pic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8134350" y="3600450"/>
            <a:ext cx="3448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Five real videos per answer</a:t>
            </a:r>
            <a:endParaRPr/>
          </a:p>
        </p:txBody>
      </p:sp>
      <p:pic>
        <p:nvPicPr>
          <p:cNvPr id="296" name="图形 29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2400" y="4505325"/>
            <a:ext cx="228600" cy="228600"/>
          </a:xfrm>
          <a:prstGeom prst="rect">
            <a:avLst/>
          </a:prstGeom>
          <a:ln/>
        </p:spPr>
      </p:pic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8134350" y="4486275"/>
            <a:ext cx="3448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Nothing gets lost</a:t>
            </a:r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7943850" y="1866900"/>
            <a:ext cx="34671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The AI asks questions back and gives a practice problem — the student still thinks.</a:t>
            </a:r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8134350" y="2943225"/>
            <a:ext cx="34480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Maths, Chinese, English, coding and general — each keeps its own chat history.</a:t>
            </a:r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8134350" y="3829050"/>
            <a:ext cx="34480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Found in about one second from public teaching videos. One click opens the video.</a:t>
            </a:r>
            <a:endParaRPr/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8134350" y="4714875"/>
            <a:ext cx="34480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Every session is saved per companion and can be reopened from history.</a:t>
            </a:r>
            <a:endParaRPr/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From a question to the right video&lt;/Text&gt;&#10;    &lt;Box style={{ width: 120, height: 4, borderRadius: 2, background: '#1D4ED8', marginTop: 10 }} /&gt;&#10;  &lt;/Box&gt;&#10;&#10;  {/* B · 4-step flow */}&#10;  &lt;Box style={{ position: 'absolute', left: 64, right: 64, top: 160, flexDirection: 'row', alignItems: 'center', gap: 10 }}&gt;&#10;    {[&#10;      { icon: 'comments', h: '1 · Student asks', p: '&quot;What does a fraction mean?&quot;' },&#10;      { icon: 'brain', h: '2 · AI finds the point', p: 'The answer also carries 1–3 clean search words.' },&#10;      { icon: 'search', h: '3 · We search public videos', p: 'Real teacher videos, filtered and ranked.' },&#10;      { icon: 'external-link', h: '4 · Student clicks', p: 'A new tab opens the video. Not helpful? Just close the list.' },&#10;    ].map((s, i) =&gt; (&#10;      &lt;Box key={s.h} style={{ flexDirection: 'row', alignItems: 'center', flex: 1 }}&gt;&#10;        &lt;Box style={{ flex: 1, height: 240, background: '#F1F5F9', borderRadius: 14, padding: 22, flexDirection: 'column', justifyContent: 'space-between' }}&gt;&#10;          &lt;FAIcon name={s.icon} style={{ fill: '#1D4ED8', width: 34, height: 34 }} /&gt;&#10;          &lt;Box style={{ flexDirection: 'column', gap: 6 }}&gt;&#10;            &lt;Text style={{ fontSize: 16.5, fontWeight: 'bold', color: '#0F172A' }}&gt;{s.h}&lt;/Text&gt;&#10;            &lt;Text style={{ fontSize: 13.5, lineHeight: 1.5, color: '#0F172A', opacity: 0.68 }}&gt;{s.p}&lt;/Text&gt;&#10;          &lt;/Box&gt;&#10;        &lt;/Box&gt;&#10;        {i &lt; 3 &amp;&amp; &lt;FAIcon name='arrow-right' style={{ fill: '#1D4ED8', width: 22, height: 22, marginHorizontal: 6 }} /&gt;}&#10;      &lt;/Box&gt;&#10;    ))}&#10;  &lt;/Box&gt;&#10;&#10;  {/* Stat chips */}&#10;  &lt;Box style={{ position: 'absolute', left: 64, right: 64, top: 450, flexDirection: 'row', gap: 28 }}&gt;&#10;    {[&#10;      { n: '5', t: 'videos suggested under every answer' },&#10;      { n: '~1s', t: 'to find them, with a 30-minute cache' },&#10;      { n: '0', t: 'paid search keys — open public data only' },&#10;    ].map((c) =&gt; (&#10;      &lt;Box key={c.n} style={{ flex: 1, height: 130, borderRadius: 14, border: '2px solid rgba(29,78,216,0.18)', padding: 20, flexDirection: 'column', justifyContent: 'space-between' }}&gt;&#10;        &lt;Text style={{ fontSize: 40, fontWeight: 'bold', color: '#1D4ED8', lineHeight: 1 }}&gt;{c.n}&lt;/Text&gt;&#10;        &lt;Text style={{ fontSize: 14, lineHeight: 1.45, color: '#0F172A', opacity: 0.72 }}&gt;{c.t}&lt;/Text&gt;&#10;      &lt;/Box&gt;&#10;    ))}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07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矩形 30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609600" y="190500"/>
            <a:ext cx="56102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From a question to the right video</a:t>
            </a:r>
            <a:endParaRPr/>
          </a:p>
        </p:txBody>
      </p:sp>
      <p:sp>
        <p:nvSpPr>
          <p:cNvPr id="307" name="矩形: 圆角 306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8" name="矩形: 圆角 307"/>
          <p:cNvSpPr/>
          <p:nvPr/>
        </p:nvSpPr>
        <p:spPr>
          <a:xfrm>
            <a:off x="609600" y="1524000"/>
            <a:ext cx="2466975" cy="228600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9" name="图形 30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150" y="1733550"/>
            <a:ext cx="323850" cy="323850"/>
          </a:xfrm>
          <a:prstGeom prst="rect">
            <a:avLst/>
          </a:prstGeom>
          <a:ln/>
        </p:spPr>
      </p:pic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819150" y="3114675"/>
            <a:ext cx="2047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1 · Student asks</a:t>
            </a:r>
            <a:endParaRPr/>
          </a:p>
        </p:txBody>
      </p:sp>
      <p:pic>
        <p:nvPicPr>
          <p:cNvPr id="311" name="图形 3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6575" y="2562225"/>
            <a:ext cx="209550" cy="209550"/>
          </a:xfrm>
          <a:prstGeom prst="rect">
            <a:avLst/>
          </a:prstGeom>
          <a:ln/>
        </p:spPr>
      </p:pic>
      <p:sp>
        <p:nvSpPr>
          <p:cNvPr id="312" name="矩形: 圆角 311"/>
          <p:cNvSpPr/>
          <p:nvPr/>
        </p:nvSpPr>
        <p:spPr>
          <a:xfrm>
            <a:off x="3381375" y="1524000"/>
            <a:ext cx="2457450" cy="228600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3" name="图形 3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0925" y="1733550"/>
            <a:ext cx="323850" cy="323850"/>
          </a:xfrm>
          <a:prstGeom prst="rect">
            <a:avLst/>
          </a:prstGeom>
          <a:ln/>
        </p:spPr>
      </p:pic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3590925" y="2886075"/>
            <a:ext cx="2038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2 · AI finds the point</a:t>
            </a:r>
            <a:endParaRPr/>
          </a:p>
        </p:txBody>
      </p:sp>
      <p:pic>
        <p:nvPicPr>
          <p:cNvPr id="315" name="图形 3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8825" y="2562225"/>
            <a:ext cx="209550" cy="209550"/>
          </a:xfrm>
          <a:prstGeom prst="rect">
            <a:avLst/>
          </a:prstGeom>
          <a:ln/>
        </p:spPr>
      </p:pic>
      <p:sp>
        <p:nvSpPr>
          <p:cNvPr id="316" name="矩形: 圆角 315"/>
          <p:cNvSpPr/>
          <p:nvPr/>
        </p:nvSpPr>
        <p:spPr>
          <a:xfrm>
            <a:off x="6143625" y="1524000"/>
            <a:ext cx="2466975" cy="228600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7" name="图形 3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3175" y="1733550"/>
            <a:ext cx="323850" cy="323850"/>
          </a:xfrm>
          <a:prstGeom prst="rect">
            <a:avLst/>
          </a:prstGeom>
          <a:ln/>
        </p:spPr>
      </p:pic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6353175" y="2695575"/>
            <a:ext cx="2047875" cy="381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3 · We search public videos</a:t>
            </a:r>
            <a:endParaRPr/>
          </a:p>
        </p:txBody>
      </p:sp>
      <p:pic>
        <p:nvPicPr>
          <p:cNvPr id="319" name="图形 3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10600" y="2562225"/>
            <a:ext cx="209550" cy="209550"/>
          </a:xfrm>
          <a:prstGeom prst="rect">
            <a:avLst/>
          </a:prstGeom>
          <a:ln/>
        </p:spPr>
      </p:pic>
      <p:sp>
        <p:nvSpPr>
          <p:cNvPr id="320" name="矩形: 圆角 319"/>
          <p:cNvSpPr/>
          <p:nvPr/>
        </p:nvSpPr>
        <p:spPr>
          <a:xfrm>
            <a:off x="8915400" y="1524000"/>
            <a:ext cx="2667000" cy="228600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1" name="图形 3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24950" y="1733550"/>
            <a:ext cx="323850" cy="323850"/>
          </a:xfrm>
          <a:prstGeom prst="rect">
            <a:avLst/>
          </a:prstGeom>
          <a:ln/>
        </p:spPr>
      </p:pic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9124950" y="2886075"/>
            <a:ext cx="22479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4 · Student clicks</a:t>
            </a:r>
            <a:endParaRPr/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819150" y="3362325"/>
            <a:ext cx="204787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"What does a fraction mean?"</a:t>
            </a:r>
            <a:endParaRPr/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3590925" y="3133725"/>
            <a:ext cx="2038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The answer also carries 1–3 clean search words.</a:t>
            </a:r>
            <a:endParaRPr/>
          </a:p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6353175" y="3133725"/>
            <a:ext cx="2047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Real teacher videos, filtered and ranked.</a:t>
            </a:r>
            <a:endParaRPr/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9124950" y="3133725"/>
            <a:ext cx="22479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A new tab opens the video. Not helpful? Just close the list.</a:t>
            </a:r>
            <a:endParaRPr/>
          </a:p>
        </p:txBody>
      </p:sp>
      <p:sp>
        <p:nvSpPr>
          <p:cNvPr id="327" name="矩形: 圆角 326"/>
          <p:cNvSpPr/>
          <p:nvPr/>
        </p:nvSpPr>
        <p:spPr>
          <a:xfrm>
            <a:off x="609600" y="4286250"/>
            <a:ext cx="3476625" cy="1238250"/>
          </a:xfrm>
          <a:prstGeom prst="roundRect">
            <a:avLst>
              <a:gd name="adj" fmla="val 10769"/>
            </a:avLst>
          </a:prstGeom>
          <a:ln w="25400">
            <a:solidFill>
              <a:srgbClr val="1D4ED8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800100" y="4476750"/>
            <a:ext cx="3095625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D4ED8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29" name="矩形: 圆角 328"/>
          <p:cNvSpPr/>
          <p:nvPr/>
        </p:nvSpPr>
        <p:spPr>
          <a:xfrm>
            <a:off x="4352925" y="4286250"/>
            <a:ext cx="3486150" cy="1238250"/>
          </a:xfrm>
          <a:prstGeom prst="roundRect">
            <a:avLst>
              <a:gd name="adj" fmla="val 10769"/>
            </a:avLst>
          </a:prstGeom>
          <a:ln w="25400">
            <a:solidFill>
              <a:srgbClr val="1D4ED8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4543425" y="4476750"/>
            <a:ext cx="31051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D4ED8"/>
                </a:solidFill>
                <a:latin typeface="Microsoft YaHei"/>
                <a:ea typeface="Microsoft YaHei"/>
              </a:rPr>
              <a:t>~1s</a:t>
            </a:r>
            <a:endParaRPr/>
          </a:p>
        </p:txBody>
      </p:sp>
      <p:sp>
        <p:nvSpPr>
          <p:cNvPr id="331" name="矩形: 圆角 330"/>
          <p:cNvSpPr/>
          <p:nvPr/>
        </p:nvSpPr>
        <p:spPr>
          <a:xfrm>
            <a:off x="8105775" y="4286250"/>
            <a:ext cx="3476625" cy="1238250"/>
          </a:xfrm>
          <a:prstGeom prst="roundRect">
            <a:avLst>
              <a:gd name="adj" fmla="val 10769"/>
            </a:avLst>
          </a:prstGeom>
          <a:ln w="25400">
            <a:solidFill>
              <a:srgbClr val="1D4ED8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8296275" y="4476750"/>
            <a:ext cx="3095625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D4ED8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800100" y="5095875"/>
            <a:ext cx="309562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videos suggested under every answer</a:t>
            </a:r>
            <a:endParaRPr/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4543425" y="5095875"/>
            <a:ext cx="310515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to find them, with a 30-minute cache</a:t>
            </a:r>
            <a:endParaRPr/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8296275" y="5095875"/>
            <a:ext cx="309562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paid search keys — open public data only</a:t>
            </a:r>
            <a:endParaRPr/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Built for many languages from day one&lt;/Text&gt;&#10;    &lt;Box style={{ width: 120, height: 4, borderRadius: 2, background: '#1D4ED8', marginTop: 10 }} /&gt;&#10;  &lt;/Box&gt;&#10;&#10;  {/* Left: text */}&#10;  &lt;Box style={{ position: 'absolute', left: 64, top: 150, width: 430, flexDirection: 'column', gap: 30 }}&gt;&#10;    &lt;Box style={{ flexDirection: 'row', alignItems: 'flex-end', gap: 24 }}&gt;&#10;      &lt;Box style={{ flexDirection: 'column', gap: 6 }}&gt;&#10;        &lt;Text style={{ fontSize: 84, fontWeight: 'bold', color: '#1D4ED8', lineHeight: 1 }}&gt;8&lt;/Text&gt;&#10;        &lt;Text style={{ fontSize: 15, lineHeight: 1.4, color: '#0F172A', opacity: 0.72 }}&gt;interface languages,&lt;br /&gt;switched in one click&lt;/Text&gt;&#10;      &lt;/Box&gt;&#10;      &lt;Box style={{ width: 2, height: 90, background: 'rgba(15,23,42,0.12)' }} /&gt;&#10;      &lt;Box style={{ flexDirection: 'column', gap: 6 }}&gt;&#10;        &lt;Text style={{ fontSize: 84, fontWeight: 'bold', color: '#06B6D4', lineHeight: 1 }}&gt;17&lt;/Text&gt;&#10;        &lt;Text style={{ fontSize: 15, lineHeight: 1.4, color: '#0F172A', opacity: 0.72 }}&gt;languages in the&lt;br /&gt;built-in translator&lt;/Text&gt;&#10;      &lt;/Box&gt;&#10;    &lt;/Box&gt;&#10;    {[&#10;      { icon: 'globe', h: 'Whole product, not a widget', p: 'Menus, buttons, forms and messages all follow the chosen language — even after refresh.' },&#10;      { icon: 'exchange', h: 'Two-way translator', p: 'Auto-detects the source language, swaps directions, copies the result with one click.' },&#10;    ].map((f) =&gt; (&#10;      &lt;Box key={f.h} style={{ flexDirection: 'row', gap: 14, alignItems: 'flex-start' }}&gt;&#10;        &lt;FAIcon name={f.icon} style={{ fill: '#1D4ED8', width: 24, height: 24, marginTop: 2 }} /&gt;&#10;        &lt;Box style={{ flex: 1, flexDirection: 'column', gap: 4 }}&gt;&#10;          &lt;Text style={{ fontSize: 16, fontWeight: 'bold', color: '#0F172A' }}&gt;{f.h}&lt;/Text&gt;&#10;          &lt;Text style={{ fontSize: 13.5, lineHeight: 1.5, color: '#0F172A', opacity: 0.68 }}&gt;{f.p}&lt;/Text&gt;&#10;        &lt;/Box&gt;&#10;      &lt;/Box&gt;&#10;    ))}&#10;  &lt;/Box&gt;&#10;&#10;  {/* Right: screenshot */}&#10;  &lt;Box style={{ position: 'absolute', right: 64, top: 150, width: 660, background: '#F1F5F9', borderRadius: 14, padding: 14, boxShadow: '0 8px 28px rgba(15,23,42,0.14)' }}&gt;&#10;    &lt;Image src='assets/translator_en.png' style={{ width: '100%', height: 354, objectFit: 'cover', borderRadius: 8 }} /&gt;&#10;    &lt;Text style={{ fontSize: 12, color: '#0F172A', opacity: 0.55, marginTop: 10, textAlign: 'center' }}&gt;&#10;      Real product — English, Japanese, French, German and 13 more, with auto-detect&#10;    &lt;/Text&gt;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08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矩形 3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09600" y="190500"/>
            <a:ext cx="63912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Built for many languages from day one</a:t>
            </a:r>
            <a:endParaRPr/>
          </a:p>
        </p:txBody>
      </p:sp>
      <p:sp>
        <p:nvSpPr>
          <p:cNvPr id="341" name="矩形: 圆角 340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609600" y="1428750"/>
            <a:ext cx="1419225" cy="962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1D4ED8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343" name="矩形 342"/>
          <p:cNvSpPr/>
          <p:nvPr/>
        </p:nvSpPr>
        <p:spPr>
          <a:xfrm>
            <a:off x="2257425" y="2076450"/>
            <a:ext cx="19050" cy="85725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2505075" y="1428750"/>
            <a:ext cx="1190625" cy="962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06B6D4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  <p:pic>
        <p:nvPicPr>
          <p:cNvPr id="345" name="图形 3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3238500"/>
            <a:ext cx="228600" cy="228600"/>
          </a:xfrm>
          <a:prstGeom prst="rect">
            <a:avLst/>
          </a:prstGeom>
          <a:ln/>
        </p:spPr>
      </p:pic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971550" y="3219450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Whole product, not a widget</a:t>
            </a:r>
            <a:endParaRPr/>
          </a:p>
        </p:txBody>
      </p:sp>
      <p:pic>
        <p:nvPicPr>
          <p:cNvPr id="347" name="图形 3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219575"/>
            <a:ext cx="228600" cy="228600"/>
          </a:xfrm>
          <a:prstGeom prst="rect">
            <a:avLst/>
          </a:prstGeom>
          <a:ln/>
        </p:spPr>
      </p:pic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71550" y="4200525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Two-way translator</a:t>
            </a:r>
            <a:endParaRPr/>
          </a:p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609600" y="2447925"/>
            <a:ext cx="1419225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interface languages,</a:t>
            </a:r>
            <a:endParaRPr/>
          </a:p>
          <a:p>
            <a:pPr>
              <a:lnSpc>
                <a:spcPct val="140000"/>
              </a:lnSpc>
            </a:pP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switched in one click</a:t>
            </a:r>
            <a:endParaRPr/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505075" y="2447925"/>
            <a:ext cx="1190625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languages in the</a:t>
            </a:r>
            <a:endParaRPr/>
          </a:p>
          <a:p>
            <a:pPr>
              <a:lnSpc>
                <a:spcPct val="140000"/>
              </a:lnSpc>
            </a:pP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built-in translator</a:t>
            </a:r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971550" y="3448050"/>
            <a:ext cx="37338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Menus, buttons, forms and messages all follow the chosen language — even after refresh.</a:t>
            </a:r>
            <a:endParaRPr/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971550" y="4429125"/>
            <a:ext cx="37338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Auto-detects the source language, swaps directions, copies the result with one click.</a:t>
            </a:r>
            <a:endParaRPr/>
          </a:p>
        </p:txBody>
      </p:sp>
      <p:sp>
        <p:nvSpPr>
          <p:cNvPr id="353" name="矩形: 圆角 352"/>
          <p:cNvSpPr/>
          <p:nvPr/>
        </p:nvSpPr>
        <p:spPr>
          <a:xfrm>
            <a:off x="5295900" y="1428750"/>
            <a:ext cx="6286500" cy="3876675"/>
          </a:xfrm>
          <a:prstGeom prst="roundRect">
            <a:avLst>
              <a:gd name="adj" fmla="val 3440"/>
            </a:avLst>
          </a:prstGeom>
          <a:solidFill>
            <a:srgbClr val="F1F5F9"/>
          </a:solidFill>
          <a:ln/>
          <a:effectLst>
            <a:outerShdw blurRad="266700" dist="76200" dir="540000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4" name="图片 353"/>
          <p:cNvPicPr>
            <a:picLocks noChangeAspect="1"/>
          </p:cNvPicPr>
          <p:nvPr/>
        </p:nvPicPr>
        <p:blipFill>
          <a:blip r:embed="rId4"/>
          <a:srcRect t="210" b="210"/>
          <a:stretch>
            <a:fillRect/>
          </a:stretch>
        </p:blipFill>
        <p:spPr>
          <a:xfrm>
            <a:off x="5429250" y="1562100"/>
            <a:ext cx="6019800" cy="3371850"/>
          </a:xfrm>
          <a:prstGeom prst="roundRect">
            <a:avLst>
              <a:gd name="adj" fmla="val 2260"/>
            </a:avLst>
          </a:prstGeom>
          <a:ln/>
        </p:spPr>
      </p:pic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5429250" y="5029200"/>
            <a:ext cx="601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Real product — English, Japanese, French, German and 13 more, with auto-detect</a:t>
            </a:r>
            <a:endParaRPr/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Parents stay in the loop — safely&lt;/Text&gt;&#10;    &lt;Box style={{ width: 120, height: 4, borderRadius: 2, background: '#1D4ED8', marginTop: 10 }} /&gt;&#10;  &lt;/Box&gt;&#10;&#10;  {/* Left: screenshot */}&#10;  &lt;Box style={{ position: 'absolute', left: 64, top: 150, width: 660, background: '#F1F5F9', borderRadius: 14, padding: 14, boxShadow: '0 8px 28px rgba(15,23,42,0.14)' }}&gt;&#10;    &lt;Image src='assets/parent_en.png' style={{ width: '100%', height: 354, objectFit: 'cover', borderRadius: 8 }} /&gt;&#10;    &lt;Text style={{ fontSize: 12, color: '#0F172A', opacity: 0.55, marginTop: 10, textAlign: 'center' }}&gt;&#10;      Real product — linked child, weekly window, one-tap AI report&#10;    &lt;/Text&gt;&#10;  &lt;/Box&gt;&#10;&#10;  {/* Right: text + safety chips */}&#10;  &lt;Box style={{ position: 'absolute', right: 64, top: 150, width: 430, flexDirection: 'column', gap: 24 }}&gt;&#10;    &lt;Text style={{ fontSize: 16, lineHeight: 1.55, color: '#0F172A', opacity: 0.75 }}&gt;&#10;      A parent can never claim a child by typing a name. The teacher sends an invite; the link does the rest.&#10;    &lt;/Text&gt;&#10;    {[&#10;      { icon: 'link', h: 'Invite-only link', p: 'Created by the teacher for one student, one email.' },&#10;      { icon: 'clock', h: 'Expires in 24 hours', p: 'And works exactly once. Old links simply die.' },&#10;      { icon: 'envelope', h: 'Email must match', p: 'Only the invited parent account can accept it.' },&#10;      { icon: 'file-alt', h: 'Weekly AI growth report', p: 'Effort, emotions and quiz results in plain words.' },&#10;    ].map((f) =&gt; (&#10;      &lt;Box key={f.h} style={{ flexDirection: 'row', gap: 14, alignItems: 'flex-start' }}&gt;&#10;        &lt;FAIcon name={f.icon} style={{ fill: '#1D4ED8', width: 24, height: 24, marginTop: 2 }} /&gt;&#10;        &lt;Box style={{ flex: 1, flexDirection: 'column', gap: 4 }}&gt;&#10;          &lt;Text style={{ fontSize: 16, fontWeight: 'bold', color: '#0F172A' }}&gt;{f.h}&lt;/Text&gt;&#10;          &lt;Text style={{ fontSize: 13.5, lineHeight: 1.5, color: '#0F172A', opacity: 0.68 }}&gt;{f.p}&lt;/Text&gt;&#10;        &lt;/Box&gt;&#10;      &lt;/Box&gt;&#10;    ))}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09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矩形 3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609600" y="190500"/>
            <a:ext cx="53435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Parents stay in the loop — safely</a:t>
            </a:r>
            <a:endParaRPr/>
          </a:p>
        </p:txBody>
      </p:sp>
      <p:sp>
        <p:nvSpPr>
          <p:cNvPr id="361" name="矩形: 圆角 360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2" name="矩形: 圆角 361"/>
          <p:cNvSpPr/>
          <p:nvPr/>
        </p:nvSpPr>
        <p:spPr>
          <a:xfrm>
            <a:off x="609600" y="1428750"/>
            <a:ext cx="6286500" cy="3876675"/>
          </a:xfrm>
          <a:prstGeom prst="roundRect">
            <a:avLst>
              <a:gd name="adj" fmla="val 3440"/>
            </a:avLst>
          </a:prstGeom>
          <a:solidFill>
            <a:srgbClr val="F1F5F9"/>
          </a:solidFill>
          <a:ln/>
          <a:effectLst>
            <a:outerShdw blurRad="266700" dist="76200" dir="5400000">
              <a:srgbClr val="0F172A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63" name="图片 362"/>
          <p:cNvPicPr>
            <a:picLocks noChangeAspect="1"/>
          </p:cNvPicPr>
          <p:nvPr/>
        </p:nvPicPr>
        <p:blipFill>
          <a:blip r:embed="rId2"/>
          <a:srcRect t="210" b="210"/>
          <a:stretch>
            <a:fillRect/>
          </a:stretch>
        </p:blipFill>
        <p:spPr>
          <a:xfrm>
            <a:off x="742950" y="1562100"/>
            <a:ext cx="6019800" cy="3371850"/>
          </a:xfrm>
          <a:prstGeom prst="roundRect">
            <a:avLst>
              <a:gd name="adj" fmla="val 2260"/>
            </a:avLst>
          </a:prstGeom>
          <a:ln/>
        </p:spPr>
      </p:pic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742950" y="5029200"/>
            <a:ext cx="601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Real product — linked child, weekly window, one-tap AI report</a:t>
            </a:r>
            <a:endParaRPr/>
          </a:p>
        </p:txBody>
      </p:sp>
      <p:pic>
        <p:nvPicPr>
          <p:cNvPr id="365" name="图形 3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6650" y="2247900"/>
            <a:ext cx="228600" cy="228600"/>
          </a:xfrm>
          <a:prstGeom prst="rect">
            <a:avLst/>
          </a:prstGeom>
          <a:ln/>
        </p:spPr>
      </p:pic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7848600" y="2228850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Invite-only link</a:t>
            </a:r>
            <a:endParaRPr/>
          </a:p>
        </p:txBody>
      </p:sp>
      <p:pic>
        <p:nvPicPr>
          <p:cNvPr id="367" name="图形 3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6650" y="2943225"/>
            <a:ext cx="228600" cy="228600"/>
          </a:xfrm>
          <a:prstGeom prst="rect">
            <a:avLst/>
          </a:prstGeom>
          <a:ln/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7848600" y="2924175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Expires in 24 hours</a:t>
            </a:r>
            <a:endParaRPr/>
          </a:p>
        </p:txBody>
      </p:sp>
      <p:pic>
        <p:nvPicPr>
          <p:cNvPr id="369" name="图形 3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6650" y="3638550"/>
            <a:ext cx="228600" cy="228600"/>
          </a:xfrm>
          <a:prstGeom prst="rect">
            <a:avLst/>
          </a:prstGeom>
          <a:ln/>
        </p:spPr>
      </p:pic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7848600" y="3619500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Email must match</a:t>
            </a:r>
            <a:endParaRPr/>
          </a:p>
        </p:txBody>
      </p:sp>
      <p:pic>
        <p:nvPicPr>
          <p:cNvPr id="371" name="图形 3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6650" y="4333875"/>
            <a:ext cx="228600" cy="228600"/>
          </a:xfrm>
          <a:prstGeom prst="rect">
            <a:avLst/>
          </a:prstGeom>
          <a:ln/>
        </p:spPr>
      </p:pic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7848600" y="4314825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Weekly AI growth report</a:t>
            </a:r>
            <a:endParaRPr/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7486650" y="1428750"/>
            <a:ext cx="40957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0F172A">
                    <a:alpha val="75000"/>
                  </a:srgbClr>
                </a:solidFill>
                <a:latin typeface="Microsoft YaHei"/>
                <a:ea typeface="Microsoft YaHei"/>
              </a:rPr>
              <a:t>A parent can never claim a child by typing a name. The teacher sends an invite; the link does the rest.</a:t>
            </a:r>
            <a:endParaRPr/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7848600" y="2457450"/>
            <a:ext cx="3733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Created by the teacher for one student, one email.</a:t>
            </a:r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7848600" y="3152775"/>
            <a:ext cx="3733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And works exactly once. Old links simply die.</a:t>
            </a:r>
            <a:endParaRPr/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848600" y="3848100"/>
            <a:ext cx="3733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Only the invited parent account can accept it.</a:t>
            </a:r>
            <a:endParaRPr/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848600" y="4543425"/>
            <a:ext cx="3733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Effort, emotions and quiz results in plain words.</a:t>
            </a:r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A live classroom that never loses a lesson&lt;/Text&gt;&#10;    &lt;Box style={{ width: 120, height: 4, borderRadius: 2, background: '#1D4ED8', marginTop: 10 }} /&gt;&#10;  &lt;/Box&gt;&#10;&#10;  {/* B · 2x2 feature grid */}&#10;  &lt;Box style={{ position: 'absolute', left: 64, right: 64, top: 150, flexDirection: 'row', gap: 26 }}&gt;&#10;    {[&#10;      { icon: 'video', h: 'HD video &amp; screen share', p: 'Teacher and students meet in the browser — camera, microphone and screen sharing, no app to install.' },&#10;      { icon: 'record-vinyl', h: 'One-click recording', p: 'The lesson is recorded as one video. It auto-saves even if the page closes, and a heartbeat keeps the file safe.' },&#10;      { icon: 'play-circle', h: 'Playback with the whiteboard', p: 'Replay the video and watch the shared whiteboard redraw itself, stroke by stroke, in sync.' },&#10;      { icon: 'shield-alt', h: 'Clear, honest errors', p: 'If a camera is blocked, the app says exactly which setting to fix — in the parent\'s language.' },&#10;    ].map((f) =&gt; (&#10;      &lt;Box key={f.h} style={{ flex: 1, height: 220, background: '#F1F5F9', borderRadius: 14, padding: 26, flexDirection: 'column', justifyContent: 'space-between' }}&gt;&#10;        &lt;Box style={{ flexDirection: 'row', alignItems: 'center', gap: 12 }}&gt;&#10;          &lt;Box style={{ width: 44, height: 44, borderRadius: 11, background: '#1D4ED8', justifyContent: 'center', alignItems: 'center' }}&gt;&#10;            &lt;FAIcon name={f.icon} style={{ fill: '#FFFFFF', width: 22, height: 22 }} /&gt;&#10;          &lt;/Box&gt;&#10;          &lt;Text style={{ fontSize: 18, fontWeight: 'bold', color: '#0F172A' }}&gt;{f.h}&lt;/Text&gt;&#10;        &lt;/Box&gt;&#10;        &lt;Text style={{ fontSize: 14.5, lineHeight: 1.55, color: '#0F172A', opacity: 0.72 }}&gt;{f.p}&lt;/Text&gt;&#10;      &lt;/Box&gt;&#10;    ))}&#10;  &lt;/Box&gt;&#10;&#10;  {/* Bottom strip: recovery stat */}&#10;  &lt;Box style={{ position: 'absolute', left: 64, right: 64, top: 428, height: 150, borderRadius: 16, background: 'rgba(29,78,216,0.06)', padding: '26px 40px', flexDirection: 'row', alignItems: 'center', gap: 40 }}&gt;&#10;    &lt;Text style={{ fontSize: 62, fontWeight: 'bold', color: '#1D4ED8', lineHeight: 1 }}&gt;0&lt;/Text&gt;&#10;    &lt;Text style={{ fontSize: 17, lineHeight: 1.55, color: '#0F172A', opacity: 0.78, flex: 1 }}&gt;&#10;      recordings lost in our final test round — close the tab, switch rooms or leave early,&#10;      and the lesson still saves itself. &lt;span style={{ fontWeight: 'bold', color: '#1D4ED8' }}&gt;Engineered for real classrooms, not perfect ones.&lt;/span&gt;&#10;    &lt;/Text&gt;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10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609600" y="190500"/>
            <a:ext cx="67341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A live classroom that never loses a lesson</a:t>
            </a:r>
            <a:endParaRPr/>
          </a:p>
        </p:txBody>
      </p:sp>
      <p:sp>
        <p:nvSpPr>
          <p:cNvPr id="15" name="矩形: 圆角 14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矩形: 圆角 15"/>
          <p:cNvSpPr/>
          <p:nvPr/>
        </p:nvSpPr>
        <p:spPr>
          <a:xfrm>
            <a:off x="609600" y="1428750"/>
            <a:ext cx="2562225" cy="209550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矩形: 圆角 16"/>
          <p:cNvSpPr/>
          <p:nvPr/>
        </p:nvSpPr>
        <p:spPr>
          <a:xfrm>
            <a:off x="857250" y="16764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025" y="1781175"/>
            <a:ext cx="209550" cy="209550"/>
          </a:xfrm>
          <a:prstGeom prst="rect">
            <a:avLst/>
          </a:prstGeom>
          <a:ln/>
        </p:spPr>
      </p:pic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1304925" y="1676400"/>
            <a:ext cx="16192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HD video &amp; screen share</a:t>
            </a:r>
            <a:endParaRPr/>
          </a:p>
        </p:txBody>
      </p:sp>
      <p:sp>
        <p:nvSpPr>
          <p:cNvPr id="20" name="矩形: 圆角 19"/>
          <p:cNvSpPr/>
          <p:nvPr/>
        </p:nvSpPr>
        <p:spPr>
          <a:xfrm>
            <a:off x="3419475" y="1428750"/>
            <a:ext cx="2552700" cy="209550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矩形: 圆角 20"/>
          <p:cNvSpPr/>
          <p:nvPr/>
        </p:nvSpPr>
        <p:spPr>
          <a:xfrm>
            <a:off x="3667125" y="16764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图形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1900" y="1781175"/>
            <a:ext cx="209550" cy="209550"/>
          </a:xfrm>
          <a:prstGeom prst="rect">
            <a:avLst/>
          </a:prstGeom>
          <a:ln/>
        </p:spPr>
      </p:pic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4162425" y="1781175"/>
            <a:ext cx="1562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One-click recording</a:t>
            </a:r>
            <a:endParaRPr/>
          </a:p>
        </p:txBody>
      </p:sp>
      <p:sp>
        <p:nvSpPr>
          <p:cNvPr id="24" name="矩形: 圆角 23"/>
          <p:cNvSpPr/>
          <p:nvPr/>
        </p:nvSpPr>
        <p:spPr>
          <a:xfrm>
            <a:off x="6219825" y="1428750"/>
            <a:ext cx="2562225" cy="209550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矩形: 圆角 24"/>
          <p:cNvSpPr/>
          <p:nvPr/>
        </p:nvSpPr>
        <p:spPr>
          <a:xfrm>
            <a:off x="6467475" y="16764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图形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2250" y="1781175"/>
            <a:ext cx="209550" cy="209550"/>
          </a:xfrm>
          <a:prstGeom prst="rect">
            <a:avLst/>
          </a:prstGeom>
          <a:ln/>
        </p:spPr>
      </p:pic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915150" y="1676400"/>
            <a:ext cx="16192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Playback with the whiteboard</a:t>
            </a:r>
            <a:endParaRPr/>
          </a:p>
        </p:txBody>
      </p:sp>
      <p:sp>
        <p:nvSpPr>
          <p:cNvPr id="28" name="矩形: 圆角 27"/>
          <p:cNvSpPr/>
          <p:nvPr/>
        </p:nvSpPr>
        <p:spPr>
          <a:xfrm>
            <a:off x="9029700" y="1428750"/>
            <a:ext cx="2552700" cy="209550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矩形: 圆角 28"/>
          <p:cNvSpPr/>
          <p:nvPr/>
        </p:nvSpPr>
        <p:spPr>
          <a:xfrm>
            <a:off x="9277350" y="16764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图形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2125" y="1781175"/>
            <a:ext cx="209550" cy="209550"/>
          </a:xfrm>
          <a:prstGeom prst="rect">
            <a:avLst/>
          </a:prstGeom>
          <a:ln/>
        </p:spPr>
      </p:pic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9782175" y="1781175"/>
            <a:ext cx="15525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Clear, honest errors</a:t>
            </a:r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57250" y="2247900"/>
            <a:ext cx="2066925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Teacher and students meet in the browser — camera, microphone and screen sharing, no app to install.</a:t>
            </a:r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3667125" y="2247900"/>
            <a:ext cx="205740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The lesson is recorded as one video. It auto-saves even if the page closes, and a heartbeat keeps the file safe.</a:t>
            </a:r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6467475" y="2505075"/>
            <a:ext cx="206692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Replay the video and watch the shared whiteboard redraw itself, stroke by stroke, in sync.</a:t>
            </a:r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9277350" y="2505075"/>
            <a:ext cx="20574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If a camera is blocked, the app says exactly which setting to fix — in the parent's language.</a:t>
            </a:r>
            <a:endParaRPr/>
          </a:p>
        </p:txBody>
      </p:sp>
      <p:sp>
        <p:nvSpPr>
          <p:cNvPr id="36" name="矩形: 圆角 35"/>
          <p:cNvSpPr/>
          <p:nvPr/>
        </p:nvSpPr>
        <p:spPr>
          <a:xfrm>
            <a:off x="609600" y="4076700"/>
            <a:ext cx="10972800" cy="1428750"/>
          </a:xfrm>
          <a:prstGeom prst="roundRect">
            <a:avLst>
              <a:gd name="adj" fmla="val 10667"/>
            </a:avLst>
          </a:prstGeom>
          <a:solidFill>
            <a:srgbClr val="1D4ED8">
              <a:alpha val="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90600" y="4438650"/>
            <a:ext cx="371475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D4ED8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1743075" y="4486275"/>
            <a:ext cx="9458325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75">
                <a:solidFill>
                  <a:srgbClr val="0F172A">
                    <a:alpha val="78000"/>
                  </a:srgbClr>
                </a:solidFill>
                <a:latin typeface="Microsoft YaHei"/>
                <a:ea typeface="Microsoft YaHei"/>
              </a:rPr>
              <a:t>recordings lost in our final test round — close the tab, switch rooms or leave early, and the lesson still saves itself. </a:t>
            </a:r>
            <a:r>
              <a:rPr lang="en-US" sz="1275" b="1">
                <a:solidFill>
                  <a:srgbClr val="1D4ED8">
                    <a:alpha val="78000"/>
                  </a:srgbClr>
                </a:solidFill>
                <a:latin typeface="Microsoft YaHei"/>
                <a:ea typeface="Microsoft YaHei"/>
              </a:rPr>
              <a:t>Engineered for real classrooms, not perfect ones.</a:t>
            </a:r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What makes us different&lt;/Text&gt;&#10;    &lt;Box style={{ width: 120, height: 4, borderRadius: 2, background: '#1D4ED8', marginTop: 10 }} /&gt;&#10;  &lt;/Box&gt;&#10;&#10;  &lt;Text style={{ position: 'absolute', left: 64, top: 108, fontSize: 17, lineHeight: 1.5, color: '#0F172A', opacity: 0.72 }}&gt;&#10;    Most AI tutors chat alone with a child. We put AI inside a real classroom, with a real teacher and real parents.&#10;  &lt;/Text&gt;&#10;&#10;  {/* B · Comparison built from boxes */}&#10;  &lt;Box style={{ position: 'absolute', left: 64, right: 64, top: 168 }}&gt;&#10;    {/* header row */}&#10;    &lt;Box style={{ flexDirection: 'row', gap: 14, marginBottom: 12 }}&gt;&#10;      &lt;Box style={{ width: 250 }} /&gt;&#10;      {['Typical AI tutor app', 'Classic LMS platform', 'Agentic EduVerse'].map((h, i) =&gt; (&#10;        &lt;Box key={h} style={{ flex: 1, height: 56, borderRadius: 10, background: i === 2 ? '#1D4ED8' : '#F1F5F9', justifyContent: 'center', alignItems: 'center' }}&gt;&#10;          &lt;Text style={{ fontSize: 15.5, fontWeight: 'bold', color: i === 2 ? '#FFFFFF' : '#0F172A' }}&gt;{h}&lt;/Text&gt;&#10;        &lt;/Box&gt;&#10;      ))}&#10;    &lt;/Box&gt;&#10;    {[&#10;      ['Live classroom with video', false, true, true],&#10;      ['AI that guides, not answers', true, false, true],&#10;      ['Auto-suggested teacher videos', false, false, true],&#10;      ['Parents verified &amp; in the loop', false, 'partial', true],&#10;      ['Multilingual interface', 'partial', false, true],&#10;      ['Runs without paid AI keys', true, true, true],&#10;    ].map((row) =&gt; (&#10;      &lt;Box key={row[0]} style={{ flexDirection: 'row', gap: 14, marginBottom: 10 }}&gt;&#10;        &lt;Box style={{ width: 250, justifyContent: 'center' }}&gt;&#10;          &lt;Text style={{ fontSize: 15, fontWeight: 'bold', color: '#0F172A' }}&gt;{row[0]}&lt;/Text&gt;&#10;        &lt;/Box&gt;&#10;        {[row[1], row[2], row[3]].map((v, i) =&gt; (&#10;          &lt;Box key={i} style={{ flex: 1, height: 46, borderRadius: 10, background: i === 2 ? 'rgba(6,182,212,0.10)' : '#F8FAFC', border: i === 2 ? '2px solid rgba(6,182,212,0.35)' : '1px solid rgba(15,23,42,0.06)', flexDirection: 'row', justifyContent: 'center', alignItems: 'center', gap: 8 }}&gt;&#10;            {v === true &amp;&amp; &lt;FAIcon name='check-circle' style={{ fill: i === 2 ? '#06B6D4' : '#1D4ED8', width: 18, height: 18 }} /&gt;}&#10;            {v === 'partial' &amp;&amp; &lt;FAIcon name='adjust' style={{ fill: '#0F172A', width: 18, height: 18, opacity: 0.4 }} /&gt;}&#10;            {v === false &amp;&amp; &lt;FAIcon name='times-circle' style={{ fill: '#0F172A', width: 18, height: 18, opacity: 0.25 }} /&gt;}&#10;            &lt;Text style={{ fontSize: 13.5, color: '#0F172A', opacity: v === true ? 0.85 : 0.5 }}&gt;{v === true ? 'Yes' : v === 'partial' ? 'Partly' : 'No'}&lt;/Text&gt;&#10;          &lt;/Box&gt;&#10;        ))}&#10;      &lt;/Box&gt;&#10;    ))}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11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09600" y="190500"/>
            <a:ext cx="40100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What makes us different</a:t>
            </a:r>
            <a:endParaRPr/>
          </a:p>
        </p:txBody>
      </p:sp>
      <p:sp>
        <p:nvSpPr>
          <p:cNvPr id="44" name="矩形: 圆角 43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609600" y="1028700"/>
            <a:ext cx="84201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Most AI tutors chat alone with a child. We put AI inside a real classroom, with a real teacher and real parents.</a:t>
            </a:r>
            <a:endParaRPr/>
          </a:p>
        </p:txBody>
      </p:sp>
      <p:sp>
        <p:nvSpPr>
          <p:cNvPr id="46" name="矩形: 圆角 45"/>
          <p:cNvSpPr/>
          <p:nvPr/>
        </p:nvSpPr>
        <p:spPr>
          <a:xfrm>
            <a:off x="3124200" y="1600200"/>
            <a:ext cx="2733675" cy="533400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3752850" y="1781175"/>
            <a:ext cx="1476375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172A"/>
                </a:solidFill>
                <a:latin typeface="Microsoft YaHei"/>
                <a:ea typeface="Microsoft YaHei"/>
              </a:rPr>
              <a:t>Typical AI tutor app</a:t>
            </a:r>
            <a:endParaRPr/>
          </a:p>
        </p:txBody>
      </p:sp>
      <p:sp>
        <p:nvSpPr>
          <p:cNvPr id="48" name="矩形: 圆角 47"/>
          <p:cNvSpPr/>
          <p:nvPr/>
        </p:nvSpPr>
        <p:spPr>
          <a:xfrm>
            <a:off x="5991225" y="1600200"/>
            <a:ext cx="2724150" cy="533400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6572250" y="1781175"/>
            <a:ext cx="15621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172A"/>
                </a:solidFill>
                <a:latin typeface="Microsoft YaHei"/>
                <a:ea typeface="Microsoft YaHei"/>
              </a:rPr>
              <a:t>Classic LMS platform</a:t>
            </a:r>
            <a:endParaRPr/>
          </a:p>
        </p:txBody>
      </p:sp>
      <p:sp>
        <p:nvSpPr>
          <p:cNvPr id="50" name="矩形: 圆角 49"/>
          <p:cNvSpPr/>
          <p:nvPr/>
        </p:nvSpPr>
        <p:spPr>
          <a:xfrm>
            <a:off x="8848725" y="1600200"/>
            <a:ext cx="2733675" cy="533400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9563100" y="1781175"/>
            <a:ext cx="1304925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>Agentic EduVerse</a:t>
            </a:r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09600" y="23812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Live classroom with video</a:t>
            </a:r>
            <a:endParaRPr/>
          </a:p>
        </p:txBody>
      </p:sp>
      <p:sp>
        <p:nvSpPr>
          <p:cNvPr id="53" name="矩形: 圆角 52"/>
          <p:cNvSpPr/>
          <p:nvPr/>
        </p:nvSpPr>
        <p:spPr>
          <a:xfrm>
            <a:off x="3124200" y="22479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矩形: 圆角 53"/>
          <p:cNvSpPr/>
          <p:nvPr/>
        </p:nvSpPr>
        <p:spPr>
          <a:xfrm>
            <a:off x="5991225" y="22479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5" name="图形 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4225" y="2381250"/>
            <a:ext cx="171450" cy="171450"/>
          </a:xfrm>
          <a:prstGeom prst="rect">
            <a:avLst/>
          </a:prstGeom>
          <a:ln/>
        </p:spPr>
      </p:pic>
      <p:sp>
        <p:nvSpPr>
          <p:cNvPr id="56" name="矩形: 圆角 55"/>
          <p:cNvSpPr/>
          <p:nvPr/>
        </p:nvSpPr>
        <p:spPr>
          <a:xfrm>
            <a:off x="8848725" y="22479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7" name="图形 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2381250"/>
            <a:ext cx="171450" cy="171450"/>
          </a:xfrm>
          <a:prstGeom prst="rect">
            <a:avLst/>
          </a:prstGeom>
          <a:ln/>
        </p:spPr>
      </p:pic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609600" y="29146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AI that guides, not answers</a:t>
            </a:r>
            <a:endParaRPr/>
          </a:p>
        </p:txBody>
      </p:sp>
      <p:sp>
        <p:nvSpPr>
          <p:cNvPr id="59" name="矩形: 圆角 58"/>
          <p:cNvSpPr/>
          <p:nvPr/>
        </p:nvSpPr>
        <p:spPr>
          <a:xfrm>
            <a:off x="3124200" y="27813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0" name="图形 5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200" y="2914650"/>
            <a:ext cx="171450" cy="171450"/>
          </a:xfrm>
          <a:prstGeom prst="rect">
            <a:avLst/>
          </a:prstGeom>
          <a:ln/>
        </p:spPr>
      </p:pic>
      <p:sp>
        <p:nvSpPr>
          <p:cNvPr id="61" name="矩形: 圆角 60"/>
          <p:cNvSpPr/>
          <p:nvPr/>
        </p:nvSpPr>
        <p:spPr>
          <a:xfrm>
            <a:off x="5991225" y="27813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矩形: 圆角 61"/>
          <p:cNvSpPr/>
          <p:nvPr/>
        </p:nvSpPr>
        <p:spPr>
          <a:xfrm>
            <a:off x="8848725" y="27813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3" name="图形 6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2914650"/>
            <a:ext cx="171450" cy="171450"/>
          </a:xfrm>
          <a:prstGeom prst="rect">
            <a:avLst/>
          </a:prstGeom>
          <a:ln/>
        </p:spPr>
      </p:pic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609600" y="34480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Auto-suggested teacher videos</a:t>
            </a:r>
            <a:endParaRPr/>
          </a:p>
        </p:txBody>
      </p:sp>
      <p:sp>
        <p:nvSpPr>
          <p:cNvPr id="65" name="矩形: 圆角 64"/>
          <p:cNvSpPr/>
          <p:nvPr/>
        </p:nvSpPr>
        <p:spPr>
          <a:xfrm>
            <a:off x="3124200" y="33147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5991225" y="33147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矩形: 圆角 66"/>
          <p:cNvSpPr/>
          <p:nvPr/>
        </p:nvSpPr>
        <p:spPr>
          <a:xfrm>
            <a:off x="8848725" y="33147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8" name="图形 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3448050"/>
            <a:ext cx="171450" cy="171450"/>
          </a:xfrm>
          <a:prstGeom prst="rect">
            <a:avLst/>
          </a:prstGeom>
          <a:ln/>
        </p:spPr>
      </p:pic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09600" y="39814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Parents verified &amp; in the loop</a:t>
            </a:r>
            <a:endParaRPr/>
          </a:p>
        </p:txBody>
      </p:sp>
      <p:sp>
        <p:nvSpPr>
          <p:cNvPr id="70" name="矩形: 圆角 69"/>
          <p:cNvSpPr/>
          <p:nvPr/>
        </p:nvSpPr>
        <p:spPr>
          <a:xfrm>
            <a:off x="3124200" y="38481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矩形: 圆角 70"/>
          <p:cNvSpPr/>
          <p:nvPr/>
        </p:nvSpPr>
        <p:spPr>
          <a:xfrm>
            <a:off x="5991225" y="38481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矩形: 圆角 71"/>
          <p:cNvSpPr/>
          <p:nvPr/>
        </p:nvSpPr>
        <p:spPr>
          <a:xfrm>
            <a:off x="8848725" y="38481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3" name="图形 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3981450"/>
            <a:ext cx="171450" cy="171450"/>
          </a:xfrm>
          <a:prstGeom prst="rect">
            <a:avLst/>
          </a:prstGeom>
          <a:ln/>
        </p:spPr>
      </p:pic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609600" y="45148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Multilingual interface</a:t>
            </a:r>
            <a:endParaRPr/>
          </a:p>
        </p:txBody>
      </p:sp>
      <p:sp>
        <p:nvSpPr>
          <p:cNvPr id="75" name="矩形: 圆角 74"/>
          <p:cNvSpPr/>
          <p:nvPr/>
        </p:nvSpPr>
        <p:spPr>
          <a:xfrm>
            <a:off x="3124200" y="43815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矩形: 圆角 75"/>
          <p:cNvSpPr/>
          <p:nvPr/>
        </p:nvSpPr>
        <p:spPr>
          <a:xfrm>
            <a:off x="5991225" y="43815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矩形: 圆角 76"/>
          <p:cNvSpPr/>
          <p:nvPr/>
        </p:nvSpPr>
        <p:spPr>
          <a:xfrm>
            <a:off x="8848725" y="43815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8" name="图形 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514850"/>
            <a:ext cx="171450" cy="171450"/>
          </a:xfrm>
          <a:prstGeom prst="rect">
            <a:avLst/>
          </a:prstGeom>
          <a:ln/>
        </p:spPr>
      </p:pic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609600" y="50482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Runs without paid AI keys</a:t>
            </a:r>
            <a:endParaRPr/>
          </a:p>
        </p:txBody>
      </p:sp>
      <p:sp>
        <p:nvSpPr>
          <p:cNvPr id="80" name="矩形: 圆角 79"/>
          <p:cNvSpPr/>
          <p:nvPr/>
        </p:nvSpPr>
        <p:spPr>
          <a:xfrm>
            <a:off x="3124200" y="49149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1" name="图形 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200" y="5048250"/>
            <a:ext cx="171450" cy="171450"/>
          </a:xfrm>
          <a:prstGeom prst="rect">
            <a:avLst/>
          </a:prstGeom>
          <a:ln/>
        </p:spPr>
      </p:pic>
      <p:sp>
        <p:nvSpPr>
          <p:cNvPr id="82" name="矩形: 圆角 81"/>
          <p:cNvSpPr/>
          <p:nvPr/>
        </p:nvSpPr>
        <p:spPr>
          <a:xfrm>
            <a:off x="5991225" y="49149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3" name="图形 8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4225" y="5048250"/>
            <a:ext cx="171450" cy="171450"/>
          </a:xfrm>
          <a:prstGeom prst="rect">
            <a:avLst/>
          </a:prstGeom>
          <a:ln/>
        </p:spPr>
      </p:pic>
      <p:sp>
        <p:nvSpPr>
          <p:cNvPr id="84" name="矩形: 圆角 83"/>
          <p:cNvSpPr/>
          <p:nvPr/>
        </p:nvSpPr>
        <p:spPr>
          <a:xfrm>
            <a:off x="8848725" y="49149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5" name="图形 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5048250"/>
            <a:ext cx="171450" cy="171450"/>
          </a:xfrm>
          <a:prstGeom prst="rect">
            <a:avLst/>
          </a:prstGeom>
          <a:ln/>
        </p:spPr>
      </p:pic>
      <p:pic>
        <p:nvPicPr>
          <p:cNvPr id="86" name="图形 85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6725" y="2381250"/>
            <a:ext cx="171450" cy="171450"/>
          </a:xfrm>
          <a:prstGeom prst="rect">
            <a:avLst/>
          </a:prstGeom>
          <a:ln/>
        </p:spPr>
      </p:pic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4524375" y="23907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7381875" y="23907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10239375" y="23907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4514850" y="29241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pic>
        <p:nvPicPr>
          <p:cNvPr id="91" name="图形 90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4225" y="2914650"/>
            <a:ext cx="171450" cy="171450"/>
          </a:xfrm>
          <a:prstGeom prst="rect">
            <a:avLst/>
          </a:prstGeom>
          <a:ln/>
        </p:spPr>
      </p:pic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7381875" y="29241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10239375" y="29241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pic>
        <p:nvPicPr>
          <p:cNvPr id="94" name="图形 93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6725" y="3448050"/>
            <a:ext cx="171450" cy="171450"/>
          </a:xfrm>
          <a:prstGeom prst="rect">
            <a:avLst/>
          </a:prstGeom>
          <a:ln/>
        </p:spPr>
      </p:pic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4524375" y="34575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pic>
        <p:nvPicPr>
          <p:cNvPr id="96" name="图形 95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4225" y="3448050"/>
            <a:ext cx="171450" cy="171450"/>
          </a:xfrm>
          <a:prstGeom prst="rect">
            <a:avLst/>
          </a:prstGeom>
          <a:ln/>
        </p:spPr>
      </p:pic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7381875" y="34575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10239375" y="34575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pic>
        <p:nvPicPr>
          <p:cNvPr id="99" name="图形 98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6725" y="3981450"/>
            <a:ext cx="171450" cy="171450"/>
          </a:xfrm>
          <a:prstGeom prst="rect">
            <a:avLst/>
          </a:prstGeom>
          <a:ln/>
        </p:spPr>
      </p:pic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4524375" y="39909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pic>
        <p:nvPicPr>
          <p:cNvPr id="101" name="图形 100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8025" y="3981450"/>
            <a:ext cx="171450" cy="171450"/>
          </a:xfrm>
          <a:prstGeom prst="rect">
            <a:avLst/>
          </a:prstGeom>
          <a:ln/>
        </p:spPr>
      </p:pic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7305675" y="3990975"/>
            <a:ext cx="352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Partly</a:t>
            </a:r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239375" y="39909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pic>
        <p:nvPicPr>
          <p:cNvPr id="104" name="图形 103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1000" y="4514850"/>
            <a:ext cx="171450" cy="171450"/>
          </a:xfrm>
          <a:prstGeom prst="rect">
            <a:avLst/>
          </a:prstGeom>
          <a:ln/>
        </p:spPr>
      </p:pic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4438650" y="4524375"/>
            <a:ext cx="352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Partly</a:t>
            </a:r>
            <a:endParaRPr/>
          </a:p>
        </p:txBody>
      </p:sp>
      <p:pic>
        <p:nvPicPr>
          <p:cNvPr id="106" name="图形 105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4225" y="4514850"/>
            <a:ext cx="171450" cy="171450"/>
          </a:xfrm>
          <a:prstGeom prst="rect">
            <a:avLst/>
          </a:prstGeom>
          <a:ln/>
        </p:spPr>
      </p:pic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381875" y="45243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10239375" y="45243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4514850" y="50577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381875" y="50577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10239375" y="50577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A market that is already moving&lt;/Text&gt;&#10;    &lt;Box style={{ width: 120, height: 4, borderRadius: 2, background: '#06B6D4', marginTop: 10 }} /&gt;&#10;  &lt;/Box&gt;&#10;&#10;  {/* Left: giant anchor */}&#10;  &lt;Box style={{ position: 'absolute', left: 64, top: 175, width: 420, flexDirection: 'column', gap: 22 }}&gt;&#10;    &lt;Text style={{ fontSize: 96, fontWeight: 'bold', color: '#1D4ED8', lineHeight: 1 }}&gt;&#10;      $5.8&lt;span style={{ fontSize: 44 }}&gt;B&lt;/span&gt;&#10;    &lt;/Text&gt;&#10;    &lt;Text style={{ fontSize: 19, lineHeight: 1.5, color: '#0F172A' }}&gt;&#10;      AI-in-education spending by 2030 — up from &lt;span style={{ fontWeight: 'bold' }}&gt;$2.2B in 2024&lt;/span&gt;.&#10;    &lt;/Text&gt;&#10;    &lt;Box style={{ flexDirection: 'row', alignItems: 'center', gap: 10 }}&gt;&#10;      &lt;Box style={{ paddingHorizontal: 14, paddingVertical: 8, borderRadius: 999, background: 'rgba(6,182,212,0.14)' }}&gt;&#10;        &lt;Text style={{ fontSize: 16, fontWeight: 'bold', color: '#0F172A' }}&gt;CAGR 17.5%&lt;/Text&gt;&#10;      &lt;/Box&gt;&#10;      &lt;Text style={{ fontSize: 12, color: '#0F172A', opacity: 0.5 }}&gt;MarketsandMarkets, 2024&lt;/Text&gt;&#10;    &lt;/Box&gt;&#10;    &lt;Text style={{ fontSize: 15, lineHeight: 1.55, color: '#0F172A', opacity: 0.72 }}&gt;&#10;      Faster views go higher: another analyst sees &lt;span style={{ fontWeight: 'bold' }}&gt;$34.6B by 2030&lt;/span&gt; at 36.5% a year. Either way, the wave is real.&#10;    &lt;/Text&gt;&#10;  &lt;/Box&gt;&#10;&#10;  {/* Right: bar chart built from boxes */}&#10;  &lt;Box style={{ position: 'absolute', right: 64, top: 150, width: 620, height: 430, background: '#F8FAFC', borderRadius: 16, border: '1px solid rgba(15,23,42,0.07)', padding: 30, flexDirection: 'row', alignItems: 'flex-end', justifyContent: 'space-around' }}&gt;&#10;    {[&#10;      { y: '2023', v: 1.78, h: 92, c: '#94A3B8' },&#10;      { y: '2024', v: 2.21, h: 116, c: '#1D4ED8' },&#10;      { y: '2030', v: 5.82, h: 300, c: '#06B6D4' },&#10;    ].map((b) =&gt; (&#10;      &lt;Box key={b.y} style={{ flexDirection: 'column', alignItems: 'center', justifyContent: 'flex-end', height: '100%', width: 140 }}&gt;&#10;        &lt;Text style={{ fontSize: 20, fontWeight: 'bold', color: '#0F172A', marginBottom: 8 }}&gt;${b.v}B&lt;/Text&gt;&#10;        &lt;Box style={{ width: 110, height: b.h, background: b.c, borderRadius: 8 }} /&gt;&#10;        &lt;Text style={{ fontSize: 15, color: '#0F172A', opacity: 0.65, marginTop: 10 }}&gt;{b.y}&lt;/Text&gt;&#10;      &lt;/Box&gt;&#10;    ))}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12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矩形 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09600" y="190500"/>
            <a:ext cx="52387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A market that is already moving</a:t>
            </a:r>
            <a:endParaRPr/>
          </a:p>
        </p:txBody>
      </p:sp>
      <p:sp>
        <p:nvSpPr>
          <p:cNvPr id="117" name="矩形: 圆角 116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09600" y="1666875"/>
            <a:ext cx="4000500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1D4ED8"/>
                </a:solidFill>
                <a:latin typeface="Microsoft YaHei"/>
                <a:ea typeface="Microsoft YaHei"/>
              </a:rPr>
              <a:t>$5.8</a:t>
            </a:r>
            <a:r>
              <a:rPr lang="en-US" sz="3300" b="1">
                <a:solidFill>
                  <a:srgbClr val="1D4ED8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09600" y="2981325"/>
            <a:ext cx="40005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AI-in-education spending by 2030 — up from 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$2.2B in 2024</a:t>
            </a: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20" name="矩形: 圆角 119"/>
          <p:cNvSpPr/>
          <p:nvPr/>
        </p:nvSpPr>
        <p:spPr>
          <a:xfrm>
            <a:off x="609600" y="3848100"/>
            <a:ext cx="952500" cy="190500"/>
          </a:xfrm>
          <a:prstGeom prst="roundRect">
            <a:avLst>
              <a:gd name="adj" fmla="val 4995000"/>
            </a:avLst>
          </a:prstGeom>
          <a:solidFill>
            <a:srgbClr val="06B6D4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609600" y="3848100"/>
            <a:ext cx="952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CAGR 17.5%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1657350" y="3876675"/>
            <a:ext cx="14192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MarketsandMarkets, 2024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09600" y="4248150"/>
            <a:ext cx="40005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Faster views go higher: another analyst sees </a:t>
            </a:r>
            <a:r>
              <a:rPr lang="en-US" sz="1125" b="1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$34.6B by 2030</a:t>
            </a: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 at 36.5% a year. Either way, the wave is real.</a:t>
            </a:r>
            <a:endParaRPr/>
          </a:p>
        </p:txBody>
      </p:sp>
      <p:sp>
        <p:nvSpPr>
          <p:cNvPr id="124" name="矩形: 圆角 123"/>
          <p:cNvSpPr/>
          <p:nvPr/>
        </p:nvSpPr>
        <p:spPr>
          <a:xfrm>
            <a:off x="5676900" y="1428750"/>
            <a:ext cx="590550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F172A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6524625" y="3790950"/>
            <a:ext cx="6572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$1.78B</a:t>
            </a:r>
            <a:endParaRPr/>
          </a:p>
        </p:txBody>
      </p:sp>
      <p:sp>
        <p:nvSpPr>
          <p:cNvPr id="126" name="矩形: 圆角 125"/>
          <p:cNvSpPr/>
          <p:nvPr/>
        </p:nvSpPr>
        <p:spPr>
          <a:xfrm>
            <a:off x="6324600" y="4095750"/>
            <a:ext cx="1047750" cy="876300"/>
          </a:xfrm>
          <a:prstGeom prst="roundRect">
            <a:avLst>
              <a:gd name="adj" fmla="val 8696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8305800" y="3562350"/>
            <a:ext cx="6572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$2.21B</a:t>
            </a:r>
            <a:endParaRPr/>
          </a:p>
        </p:txBody>
      </p:sp>
      <p:sp>
        <p:nvSpPr>
          <p:cNvPr id="128" name="矩形: 圆角 127"/>
          <p:cNvSpPr/>
          <p:nvPr/>
        </p:nvSpPr>
        <p:spPr>
          <a:xfrm>
            <a:off x="8105775" y="3867150"/>
            <a:ext cx="1047750" cy="1104900"/>
          </a:xfrm>
          <a:prstGeom prst="roundRect">
            <a:avLst>
              <a:gd name="adj" fmla="val 7273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10086975" y="1809750"/>
            <a:ext cx="6572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$5.82B</a:t>
            </a:r>
            <a:endParaRPr/>
          </a:p>
        </p:txBody>
      </p:sp>
      <p:sp>
        <p:nvSpPr>
          <p:cNvPr id="130" name="矩形: 圆角 129"/>
          <p:cNvSpPr/>
          <p:nvPr/>
        </p:nvSpPr>
        <p:spPr>
          <a:xfrm>
            <a:off x="9886950" y="2114550"/>
            <a:ext cx="1047750" cy="2857500"/>
          </a:xfrm>
          <a:prstGeom prst="roundRect">
            <a:avLst>
              <a:gd name="adj" fmla="val 727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6677025" y="5067300"/>
            <a:ext cx="342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>
                    <a:alpha val="65000"/>
                  </a:srgbClr>
                </a:solidFill>
                <a:latin typeface="Microsoft YaHei"/>
                <a:ea typeface="Microsoft YaHei"/>
              </a:rPr>
              <a:t>2023</a:t>
            </a:r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8458200" y="5067300"/>
            <a:ext cx="342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>
                    <a:alpha val="65000"/>
                  </a:srgbClr>
                </a:solidFill>
                <a:latin typeface="Microsoft YaHei"/>
                <a:ea typeface="Microsoft YaHei"/>
              </a:rPr>
              <a:t>2024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10239375" y="5067300"/>
            <a:ext cx="342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>
                    <a:alpha val="65000"/>
                  </a:srgbClr>
                </a:solidFill>
                <a:latin typeface="Microsoft YaHei"/>
                <a:ea typeface="Microsoft YaHei"/>
              </a:rPr>
              <a:t>2030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osition: 'relative' }}&gt;&#10;  {/* A · Title */}&#10;  &lt;Box style={{ position: 'absolute', left: 64, top: 20 }}&gt;&#10;    &lt;Text style={{ fontSize: 34, fontWeight: 'bold', color: '#0F172A' }}&gt;A simple way to grow&lt;/Text&gt;&#10;    &lt;Box style={{ width: 120, height: 4, borderRadius: 2, background: '#1D4ED8', marginTop: 10 }} /&gt;&#10;  &lt;/Box&gt;&#10;&#10;  {/* B1 · Three revenue cards */}&#10;  &lt;Box style={{ position: 'absolute', left: 64, right: 64, top: 140, flexDirection: 'row', gap: 26 }}&gt;&#10;    {[&#10;      { icon: 'chalkboard-teacher', h: 'Free for teachers', p: 'Teachers never pay. A free classroom brings the whole school through the door.', tag: 'Growth engine' },&#10;      { icon: 'home', h: 'Family plan', p: 'Parents pay a small monthly fee for the AI companion, the translator and weekly reports.', tag: 'B2C revenue' },&#10;      { icon: 'school', h: 'School licence', p: 'One contract per school: unlimited classes, admin tools and priority support.', tag: 'B2B revenue' },&#10;    ].map((c) =&gt; (&#10;      &lt;Box key={c.h} style={{ flex: 1, height: 210, background: '#F1F5F9', borderRadius: 14, padding: 24, flexDirection: 'column', justifyContent: 'space-between' }}&gt;&#10;        &lt;Box style={{ flexDirection: 'row', alignItems: 'center', justifyContent: 'space-between' }}&gt;&#10;          &lt;Box style={{ flexDirection: 'row', alignItems: 'center', gap: 12 }}&gt;&#10;            &lt;FAIcon name={c.icon} style={{ fill: '#1D4ED8', width: 26, height: 26 }} /&gt;&#10;            &lt;Text style={{ fontSize: 18, fontWeight: 'bold', color: '#0F172A' }}&gt;{c.h}&lt;/Text&gt;&#10;          &lt;/Box&gt;&#10;          &lt;Box style={{ paddingHorizontal: 10, paddingVertical: 5, borderRadius: 999, background: '#1D4ED8' }}&gt;&#10;            &lt;Text style={{ fontSize: 11.5, fontWeight: 'bold', color: '#FFFFFF' }}&gt;{c.tag}&lt;/Text&gt;&#10;          &lt;/Box&gt;&#10;        &lt;/Box&gt;&#10;        &lt;Text style={{ fontSize: 14.5, lineHeight: 1.55, color: '#0F172A', opacity: 0.72 }}&gt;{c.p}&lt;/Text&gt;&#10;      &lt;/Box&gt;&#10;    ))}&#10;  &lt;/Box&gt;&#10;&#10;  {/* B2 · Roadmap */}&#10;  &lt;Text style={{ position: 'absolute', left: 64, top: 402, fontSize: 21, fontWeight: 'bold', color: '#0F172A' }}&gt;Next 12 months&lt;/Text&gt;&#10;  &lt;Box style={{ position: 'absolute', left: 90, right: 90, top: 470, height: 4, background: 'linear-gradient(90deg,#1D4ED8 0%,#06B6D4 100%)', borderRadius: 2 }} /&gt;&#10;  &lt;Box style={{ position: 'absolute', left: 64, right: 64, top: 440, flexDirection: 'row', gap: 26 }}&gt;&#10;    {[&#10;      { q: 'Now', t: 'Pilot schools', p: 'Run free pilots with local schools and collect teacher feedback.' },&#10;      { q: '+4 months', t: 'Mobile apps', p: 'Bring the student portal and parent reports to phones.' },&#10;      { q: '+12 months', t: 'Content library', p: 'Curated, teacher-approved video library inside the AI answers.' },&#10;    ].map((m, i) =&gt; (&#10;      &lt;Box key={m.t} style={{ flex: 1, flexDirection: 'column', alignItems: 'center', gap: 10 }}&gt;&#10;        &lt;Box style={{ width: 22, height: 22, borderRadius: 11, background: '#FFFFFF', border: '5px solid #1D4ED8' }} /&gt;&#10;        &lt;Box style={{ background: '#F1F5F9', borderRadius: 12, padding: 16, width: '100%', flexDirection: 'column', gap: 5, flex: 1 }}&gt;&#10;          &lt;Box style={{ flexDirection: 'row', justifyContent: 'space-between', alignItems: 'center' }}&gt;&#10;            &lt;Text style={{ fontSize: 16, fontWeight: 'bold', color: '#0F172A' }}&gt;{m.t}&lt;/Text&gt;&#10;            &lt;Text style={{ fontSize: 12, fontWeight: 'bold', color: '#06B6D4' }}&gt;{m.q}&lt;/Text&gt;&#10;          &lt;/Box&gt;&#10;          &lt;Text style={{ fontSize: 13.5, lineHeight: 1.5, color: '#0F172A', opacity: 0.68 }}&gt;{m.p}&lt;/Text&gt;&#10;        &lt;/Box&gt;&#10;      &lt;/Box&gt;&#10;    ))}&#10;  &lt;/Box&gt;&#10;&#10;  {/* C · Footer */}&#10;  &lt;Box style={{ position: 'absolute', left: 64, right: 64, bottom: 0, height: 60, flexDirection: 'row', justifyContent: 'space-between', alignItems: 'center' }}&gt;&#10;    &lt;Text style={{ fontSize: 12, color: '#0F172A', opacity: 0.45 }}&gt;Agentic EduVerse · Roadshow 2026&lt;/Text&gt;&#10;    &lt;Text style={{ fontSize: 12, color: '#0F172A', opacity: 0.45 }}&gt;13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609600" y="190500"/>
            <a:ext cx="35433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A simple way to grow</a:t>
            </a:r>
            <a:endParaRPr/>
          </a:p>
        </p:txBody>
      </p:sp>
      <p:sp>
        <p:nvSpPr>
          <p:cNvPr id="139" name="矩形: 圆角 138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矩形: 圆角 139"/>
          <p:cNvSpPr/>
          <p:nvPr/>
        </p:nvSpPr>
        <p:spPr>
          <a:xfrm>
            <a:off x="609600" y="1333500"/>
            <a:ext cx="3495675" cy="200025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1" name="图形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562100"/>
            <a:ext cx="247650" cy="247650"/>
          </a:xfrm>
          <a:prstGeom prst="rect">
            <a:avLst/>
          </a:prstGeom>
          <a:ln/>
        </p:spPr>
      </p:pic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1200150" y="1581150"/>
            <a:ext cx="14573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Free for teachers</a:t>
            </a:r>
            <a:endParaRPr/>
          </a:p>
        </p:txBody>
      </p:sp>
      <p:sp>
        <p:nvSpPr>
          <p:cNvPr id="143" name="矩形: 圆角 142"/>
          <p:cNvSpPr/>
          <p:nvPr/>
        </p:nvSpPr>
        <p:spPr>
          <a:xfrm>
            <a:off x="3057525" y="1619250"/>
            <a:ext cx="819150" cy="133350"/>
          </a:xfrm>
          <a:prstGeom prst="roundRect">
            <a:avLst>
              <a:gd name="adj" fmla="val 7135714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3057525" y="1619250"/>
            <a:ext cx="8191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Growth engine</a:t>
            </a:r>
            <a:endParaRPr/>
          </a:p>
        </p:txBody>
      </p:sp>
      <p:sp>
        <p:nvSpPr>
          <p:cNvPr id="145" name="矩形: 圆角 144"/>
          <p:cNvSpPr/>
          <p:nvPr/>
        </p:nvSpPr>
        <p:spPr>
          <a:xfrm>
            <a:off x="4352925" y="1333500"/>
            <a:ext cx="3486150" cy="200025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6" name="图形 1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1525" y="1562100"/>
            <a:ext cx="247650" cy="247650"/>
          </a:xfrm>
          <a:prstGeom prst="rect">
            <a:avLst/>
          </a:prstGeom>
          <a:ln/>
        </p:spPr>
      </p:pic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4943475" y="1581150"/>
            <a:ext cx="990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Family plan</a:t>
            </a:r>
            <a:endParaRPr/>
          </a:p>
        </p:txBody>
      </p:sp>
      <p:sp>
        <p:nvSpPr>
          <p:cNvPr id="148" name="矩形: 圆角 147"/>
          <p:cNvSpPr/>
          <p:nvPr/>
        </p:nvSpPr>
        <p:spPr>
          <a:xfrm>
            <a:off x="6915150" y="1619250"/>
            <a:ext cx="695325" cy="133350"/>
          </a:xfrm>
          <a:prstGeom prst="roundRect">
            <a:avLst>
              <a:gd name="adj" fmla="val 7135714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6915150" y="1619250"/>
            <a:ext cx="6953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B2C revenue</a:t>
            </a:r>
            <a:endParaRPr/>
          </a:p>
        </p:txBody>
      </p:sp>
      <p:sp>
        <p:nvSpPr>
          <p:cNvPr id="150" name="矩形: 圆角 149"/>
          <p:cNvSpPr/>
          <p:nvPr/>
        </p:nvSpPr>
        <p:spPr>
          <a:xfrm>
            <a:off x="8086725" y="1333500"/>
            <a:ext cx="3495675" cy="200025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1" name="图形 1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325" y="1562100"/>
            <a:ext cx="247650" cy="247650"/>
          </a:xfrm>
          <a:prstGeom prst="rect">
            <a:avLst/>
          </a:prstGeom>
          <a:ln/>
        </p:spPr>
      </p:pic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8677275" y="1581150"/>
            <a:ext cx="1219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School licence</a:t>
            </a:r>
            <a:endParaRPr/>
          </a:p>
        </p:txBody>
      </p:sp>
      <p:sp>
        <p:nvSpPr>
          <p:cNvPr id="153" name="矩形: 圆角 152"/>
          <p:cNvSpPr/>
          <p:nvPr/>
        </p:nvSpPr>
        <p:spPr>
          <a:xfrm>
            <a:off x="10658475" y="1619250"/>
            <a:ext cx="695325" cy="133350"/>
          </a:xfrm>
          <a:prstGeom prst="roundRect">
            <a:avLst>
              <a:gd name="adj" fmla="val 7135714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10658475" y="1619250"/>
            <a:ext cx="6953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B2B revenue</a:t>
            </a:r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838200" y="2590800"/>
            <a:ext cx="30384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Teachers never pay. A free classroom brings the whole school through the door.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4581525" y="2333625"/>
            <a:ext cx="30289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Parents pay a small monthly fee for the AI companion, the translator and weekly reports.</a:t>
            </a:r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8315325" y="2590800"/>
            <a:ext cx="30384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One contract per school: unlimited classes, admin tools and priority support.</a:t>
            </a:r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609600" y="3829050"/>
            <a:ext cx="16287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Microsoft YaHei"/>
                <a:ea typeface="Microsoft YaHei"/>
              </a:rPr>
              <a:t>Next 12 months</a:t>
            </a:r>
            <a:endParaRPr/>
          </a:p>
        </p:txBody>
      </p:sp>
      <p:sp>
        <p:nvSpPr>
          <p:cNvPr id="159" name="矩形: 圆角 158"/>
          <p:cNvSpPr/>
          <p:nvPr/>
        </p:nvSpPr>
        <p:spPr>
          <a:xfrm>
            <a:off x="857250" y="4476750"/>
            <a:ext cx="10477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60" name="矩形: 圆角 159"/>
          <p:cNvSpPr/>
          <p:nvPr/>
        </p:nvSpPr>
        <p:spPr>
          <a:xfrm>
            <a:off x="2257425" y="41910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1" name="矩形: 圆角 160"/>
          <p:cNvSpPr/>
          <p:nvPr/>
        </p:nvSpPr>
        <p:spPr>
          <a:xfrm>
            <a:off x="609600" y="4495800"/>
            <a:ext cx="3495675" cy="1009650"/>
          </a:xfrm>
          <a:prstGeom prst="roundRect">
            <a:avLst>
              <a:gd name="adj" fmla="val 1132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762000" y="4648200"/>
            <a:ext cx="9810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Pilot schools</a:t>
            </a:r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3676650" y="4676775"/>
            <a:ext cx="2762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Now</a:t>
            </a:r>
            <a:endParaRPr/>
          </a:p>
        </p:txBody>
      </p:sp>
      <p:sp>
        <p:nvSpPr>
          <p:cNvPr id="164" name="矩形: 圆角 163"/>
          <p:cNvSpPr/>
          <p:nvPr/>
        </p:nvSpPr>
        <p:spPr>
          <a:xfrm>
            <a:off x="5991225" y="41910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矩形: 圆角 164"/>
          <p:cNvSpPr/>
          <p:nvPr/>
        </p:nvSpPr>
        <p:spPr>
          <a:xfrm>
            <a:off x="4352925" y="4495800"/>
            <a:ext cx="3486150" cy="1009650"/>
          </a:xfrm>
          <a:prstGeom prst="roundRect">
            <a:avLst>
              <a:gd name="adj" fmla="val 1132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4505325" y="4648200"/>
            <a:ext cx="952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Mobile apps</a:t>
            </a:r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048500" y="4676775"/>
            <a:ext cx="6381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+4 months</a:t>
            </a:r>
            <a:endParaRPr/>
          </a:p>
        </p:txBody>
      </p:sp>
      <p:sp>
        <p:nvSpPr>
          <p:cNvPr id="168" name="矩形: 圆角 167"/>
          <p:cNvSpPr/>
          <p:nvPr/>
        </p:nvSpPr>
        <p:spPr>
          <a:xfrm>
            <a:off x="9734550" y="41910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9" name="矩形: 圆角 168"/>
          <p:cNvSpPr/>
          <p:nvPr/>
        </p:nvSpPr>
        <p:spPr>
          <a:xfrm>
            <a:off x="8086725" y="4495800"/>
            <a:ext cx="3495675" cy="1009650"/>
          </a:xfrm>
          <a:prstGeom prst="roundRect">
            <a:avLst>
              <a:gd name="adj" fmla="val 1132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8239125" y="4648200"/>
            <a:ext cx="11715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Content library</a:t>
            </a:r>
            <a:endParaRPr/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725150" y="4676775"/>
            <a:ext cx="704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+12 months</a:t>
            </a:r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762000" y="4886325"/>
            <a:ext cx="3190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Run free pilots with local schools and collect teacher feedback.</a:t>
            </a:r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4505325" y="4886325"/>
            <a:ext cx="3181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Bring the student portal and parent reports to phones.</a:t>
            </a:r>
            <a:endParaRPr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8239125" y="4886325"/>
            <a:ext cx="3190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Curated, teacher-approved video library inside the AI answers.</a:t>
            </a:r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0F172A', position: 'relative' }}&gt;&#10;  {/* subtle accent glow */}&#10;  &lt;Box style={{ position: 'absolute', top: -120, right: -120, width: 420, height: 420, borderRadius: 210, background: 'radial-gradient(circle, rgba(6,182,212,0.28) 0%, rgba(6,182,212,0) 70%)' }} /&gt;&#10;  &lt;Box style={{ position: 'absolute', bottom: -140, left: -100, width: 460, height: 460, borderRadius: 230, background: 'radial-gradient(circle, rgba(29,78,216,0.30) 0%, rgba(29,78,216,0) 70%)' }} /&gt;&#10;&#10;  &lt;Box style={{ width: '100%', height: '100%', flexDirection: 'column', justifyContent: 'center', alignItems: 'center', gap: 34, position: 'relative', zIndex: 1 }}&gt;&#10;    &lt;Box style={{ width: 64, height: 64, borderRadius: 16, background: 'linear-gradient(135deg,#1D4ED8 0%,#06B6D4 100%)', justifyContent: 'center', alignItems: 'center' }}&gt;&#10;      &lt;FAIcon name='graduation-cap' style={{ fill: '#FFFFFF', width: 34, height: 34 }} /&gt;&#10;    &lt;/Box&gt;&#10;    &lt;Text style={{ fontSize: 46, fontWeight: 'bold', color: '#FFFFFF', textAlign: 'center', lineHeight: 1.3 }}&gt;&#10;      Education works best when everyone&lt;br /&gt;is in the same room.&#10;    &lt;/Text&gt;&#10;    &lt;Text style={{ fontSize: 20, color: '#FFFFFF', opacity: 0.72, textAlign: 'center', lineHeight: 1.5 }}&gt;&#10;      We built the room. The AI is already teaching in it.&#10;    &lt;/Text&gt;&#10;    &lt;Box style={{ width: 110, height: 4, borderRadius: 2, background: 'linear-gradient(135deg,#1D4ED8 0%,#06B6D4 100%)' }} /&gt;&#10;    &lt;Text style={{ fontSize: 24, fontWeight: 'bold', color: '#06B6D4' }}&gt;Thank you&lt;/Text&gt;&#10;    &lt;Text style={{ fontSize: 14, color: '#FFFFFF', opacity: 0.5 }}&gt;Agentic EduVerse · Business Roadshow 2026 · Live demo ready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9" name="矩形: 圆角 178"/>
          <p:cNvSpPr/>
          <p:nvPr/>
        </p:nvSpPr>
        <p:spPr>
          <a:xfrm>
            <a:off x="9334500" y="-1143000"/>
            <a:ext cx="4000500" cy="4000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>
                  <a:alpha val="28000"/>
                </a:srgbClr>
              </a:gs>
              <a:gs pos="7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/>
          </a:p>
        </p:txBody>
      </p:sp>
      <p:sp>
        <p:nvSpPr>
          <p:cNvPr id="180" name="矩形: 圆角 179"/>
          <p:cNvSpPr/>
          <p:nvPr/>
        </p:nvSpPr>
        <p:spPr>
          <a:xfrm>
            <a:off x="-952500" y="3810000"/>
            <a:ext cx="4381500" cy="4381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D4ED8">
                  <a:alpha val="30000"/>
                </a:srgbClr>
              </a:gs>
              <a:gs pos="70000">
                <a:srgbClr val="1D4ED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/>
          </a:p>
        </p:txBody>
      </p:sp>
      <p:sp>
        <p:nvSpPr>
          <p:cNvPr id="181" name="矩形: 圆角 180"/>
          <p:cNvSpPr/>
          <p:nvPr/>
        </p:nvSpPr>
        <p:spPr>
          <a:xfrm>
            <a:off x="5791200" y="1219200"/>
            <a:ext cx="609600" cy="6096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182" name="图形 18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4075" y="1362075"/>
            <a:ext cx="323850" cy="323850"/>
          </a:xfrm>
          <a:prstGeom prst="rect">
            <a:avLst/>
          </a:prstGeom>
          <a:ln/>
        </p:spPr>
      </p:pic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990725" y="2152650"/>
            <a:ext cx="8210550" cy="1371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Education works best when everyone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is in the same room.</a:t>
            </a:r>
            <a:endParaRPr/>
          </a:p>
        </p:txBody>
      </p:sp>
      <p:sp>
        <p:nvSpPr>
          <p:cNvPr id="184" name="矩形: 圆角 183"/>
          <p:cNvSpPr/>
          <p:nvPr/>
        </p:nvSpPr>
        <p:spPr>
          <a:xfrm>
            <a:off x="5572125" y="4514850"/>
            <a:ext cx="1047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5495925" y="4876800"/>
            <a:ext cx="12096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B6D4"/>
                </a:solidFill>
                <a:latin typeface="Microsoft YaHei"/>
                <a:ea typeface="Microsoft YaHei"/>
              </a:rPr>
              <a:t>Thank you</a:t>
            </a:r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3819525" y="3848100"/>
            <a:ext cx="4552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We built the room. The AI is already teaching in it.</a:t>
            </a:r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4105275" y="5476875"/>
            <a:ext cx="3990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Agentic </a:t>
            </a:r>
            <a:r>
              <a:rPr lang="en-US" sz="1050" dirty="0" err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EduVerse</a:t>
            </a: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 · HACKMIT Team Binary: Jenny &amp; Elara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1249</Words>
  <Application>Microsoft Office PowerPoint</Application>
  <PresentationFormat>宽屏</PresentationFormat>
  <Paragraphs>196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曲珍 嘎玛</cp:lastModifiedBy>
  <cp:revision>1</cp:revision>
  <dcterms:created xsi:type="dcterms:W3CDTF">2026-09-19T18:15:10Z</dcterms:created>
  <dcterms:modified xsi:type="dcterms:W3CDTF">2026-09-19T22:22:41Z</dcterms:modified>
</cp:coreProperties>
</file>