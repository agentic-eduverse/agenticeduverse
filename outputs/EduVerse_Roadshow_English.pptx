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4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8.svg" /><Relationship Id="rId1" Type="http://schemas.openxmlformats.org/officeDocument/2006/relationships/image" Target="media/image15.svg" /><Relationship Id="rId2" Type="http://schemas.openxmlformats.org/officeDocument/2006/relationships/image" Target="media/image16.svg" /><Relationship Id="rId3" Type="http://schemas.openxmlformats.org/officeDocument/2006/relationships/image" Target="media/image17.svg" /><Relationship Id="rId5" Type="http://schemas.openxmlformats.org/officeDocument/2006/relationships/image" Target="media/image19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22.svg" /><Relationship Id="rId2" Type="http://schemas.openxmlformats.org/officeDocument/2006/relationships/image" Target="media/image21.svg" /><Relationship Id="rId1" Type="http://schemas.openxmlformats.org/officeDocument/2006/relationships/image" Target="media/image20.svg" /><Relationship Id="rId4" Type="http://schemas.openxmlformats.org/officeDocument/2006/relationships/image" Target="media/image23.svg" /><Relationship Id="rId5" Type="http://schemas.openxmlformats.org/officeDocument/2006/relationships/image" Target="media/image24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png" /><Relationship Id="rId5" Type="http://schemas.openxmlformats.org/officeDocument/2006/relationships/image" Target="media/image29.svg" /><Relationship Id="rId4" Type="http://schemas.openxmlformats.org/officeDocument/2006/relationships/image" Target="media/image28.svg" /><Relationship Id="rId2" Type="http://schemas.openxmlformats.org/officeDocument/2006/relationships/image" Target="media/image26.svg" /><Relationship Id="rId3" Type="http://schemas.openxmlformats.org/officeDocument/2006/relationships/image" Target="media/image27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1.svg" /><Relationship Id="rId1" Type="http://schemas.openxmlformats.org/officeDocument/2006/relationships/image" Target="media/image30.svg" /><Relationship Id="rId4" Type="http://schemas.openxmlformats.org/officeDocument/2006/relationships/image" Target="media/image32.png" /><Relationship Id="rId3" Type="http://schemas.openxmlformats.org/officeDocument/2006/relationships/image" Target="media/image31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3.svg" /><Relationship Id="rId2" Type="http://schemas.openxmlformats.org/officeDocument/2006/relationships/image" Target="media/image34.svg" /><Relationship Id="rId3" Type="http://schemas.openxmlformats.org/officeDocument/2006/relationships/image" Target="media/image35.svg" /><Relationship Id="rId4" Type="http://schemas.openxmlformats.org/officeDocument/2006/relationships/image" Target="media/image36.svg" /><Relationship Id="rId5" Type="http://schemas.openxmlformats.org/officeDocument/2006/relationships/image" Target="media/image37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8.svg" /><Relationship Id="rId2" Type="http://schemas.openxmlformats.org/officeDocument/2006/relationships/image" Target="media/image39.svg" /><Relationship Id="rId3" Type="http://schemas.openxmlformats.org/officeDocument/2006/relationships/image" Target="media/image40.png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41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2.svg" /><Relationship Id="rId3" Type="http://schemas.openxmlformats.org/officeDocument/2006/relationships/image" Target="media/image43.svg" /><Relationship Id="rId5" Type="http://schemas.openxmlformats.org/officeDocument/2006/relationships/image" Target="media/image45.svg" /><Relationship Id="rId4" Type="http://schemas.openxmlformats.org/officeDocument/2006/relationships/image" Target="media/image44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4.svg" /><Relationship Id="rId3" Type="http://schemas.openxmlformats.org/officeDocument/2006/relationships/image" Target="media/image5.svg" /><Relationship Id="rId4" Type="http://schemas.openxmlformats.org/officeDocument/2006/relationships/image" Target="media/image6.svg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9.svg" /><Relationship Id="rId2" Type="http://schemas.openxmlformats.org/officeDocument/2006/relationships/image" Target="media/image8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4" Type="http://schemas.openxmlformats.org/officeDocument/2006/relationships/image" Target="media/image10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2.svg" /><Relationship Id="rId3" Type="http://schemas.openxmlformats.org/officeDocument/2006/relationships/image" Target="media/image13.svg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21875" r="21875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ln/>
        </p:spPr>
      </p:pic>
      <p:sp>
        <p:nvSpPr>
          <p:cNvPr id="4" name="矩形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22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" name="矩形: 圆角 4"/>
          <p:cNvSpPr/>
          <p:nvPr/>
        </p:nvSpPr>
        <p:spPr>
          <a:xfrm>
            <a:off x="609600" y="1295400"/>
            <a:ext cx="381000" cy="3810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695325" y="1381125"/>
            <a:ext cx="209550" cy="209550"/>
          </a:xfrm>
          <a:prstGeom prst="rect">
            <a:avLst/>
          </a:prstGeom>
          <a:ln/>
        </p:spPr>
      </p:pic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609600" y="1943100"/>
            <a:ext cx="4724400" cy="1876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8000"/>
              </a:lnSpc>
            </a:pPr>
            <a:r>
              <a:rPr lang="en-US" sz="5700" b="1" dirty="0">
                <a:solidFill>
                  <a:srgbClr val="0F172A"/>
                </a:solidFill>
                <a:latin typeface="Microsoft YaHei"/>
                <a:ea typeface="Microsoft YaHei"/>
              </a:rPr>
              <a:t>Agentic</a:t>
            </a:r>
            <a:endParaRPr dirty="0"/>
          </a:p>
          <a:p>
            <a:pPr>
              <a:lnSpc>
                <a:spcPct val="108000"/>
              </a:lnSpc>
            </a:pPr>
            <a:r>
              <a:rPr lang="en-US" sz="5700" b="1" dirty="0" err="1">
                <a:solidFill>
                  <a:srgbClr val="0F172A"/>
                </a:solidFill>
                <a:latin typeface="Microsoft YaHei"/>
                <a:ea typeface="Microsoft YaHei"/>
              </a:rPr>
              <a:t>EduVerse</a:t>
            </a:r>
            <a:endParaRPr dirty="0"/>
          </a:p>
        </p:txBody>
      </p:sp>
      <p:sp>
        <p:nvSpPr>
          <p:cNvPr id="8" name="矩形: 圆角 7"/>
          <p:cNvSpPr/>
          <p:nvPr/>
        </p:nvSpPr>
        <p:spPr>
          <a:xfrm>
            <a:off x="609600" y="4067175"/>
            <a:ext cx="114300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pPr/>
            <a:endParaRPr/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1085850" y="1409700"/>
            <a:ext cx="2714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225" dirty="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HACKMIT ROADSHOW · 2026</a:t>
            </a:r>
            <a:endParaRPr dirty="0"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609600" y="4362450"/>
            <a:ext cx="4724400" cy="676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4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One universe. Three portals.</a:t>
            </a:r>
            <a:endParaRPr/>
          </a:p>
          <a:p>
            <a:pPr>
              <a:lnSpc>
                <a:spcPct val="155000"/>
              </a:lnSpc>
            </a:pPr>
            <a:r>
              <a:rPr lang="en-US" sz="14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An AI classroom that already runs.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09600" y="5419725"/>
            <a:ext cx="47244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dirty="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Team B</a:t>
            </a:r>
            <a:r>
              <a:rPr lang="en-US" altLang="zh-CN" sz="975" dirty="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inary</a:t>
            </a:r>
            <a:r>
              <a:rPr lang="en-US" sz="975" dirty="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 —  Jenny &amp; Elara Malvern College Chengdu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矩形 1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609600" y="190500"/>
            <a:ext cx="47910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The world has a teaching gap</a:t>
            </a:r>
            <a:endParaRPr/>
          </a:p>
        </p:txBody>
      </p:sp>
      <p:sp>
        <p:nvSpPr>
          <p:cNvPr id="191" name="矩形: 圆角 190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92" name="矩形: 圆角 191"/>
          <p:cNvSpPr/>
          <p:nvPr/>
        </p:nvSpPr>
        <p:spPr>
          <a:xfrm>
            <a:off x="609600" y="133350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193" name="图形 1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990600" y="1714500"/>
            <a:ext cx="419100" cy="419100"/>
          </a:xfrm>
          <a:prstGeom prst="rect">
            <a:avLst/>
          </a:prstGeom>
          <a:ln/>
        </p:spPr>
      </p:pic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990600" y="2343150"/>
            <a:ext cx="4572000" cy="1190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1D4ED8"/>
                </a:solidFill>
                <a:latin typeface="Microsoft YaHei"/>
                <a:ea typeface="Microsoft YaHei"/>
              </a:rPr>
              <a:t>44M</a:t>
            </a:r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990600" y="3752850"/>
            <a:ext cx="45720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more teachers are needed 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by 2030</a:t>
            </a: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 to give every child a classroom.</a:t>
            </a:r>
            <a:endParaRPr/>
          </a:p>
        </p:txBody>
      </p:sp>
      <p:sp>
        <p:nvSpPr>
          <p:cNvPr id="196" name="矩形: 圆角 195"/>
          <p:cNvSpPr/>
          <p:nvPr/>
        </p:nvSpPr>
        <p:spPr>
          <a:xfrm>
            <a:off x="6248400" y="1333500"/>
            <a:ext cx="5334000" cy="3810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197" name="图形 19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6629400" y="1714500"/>
            <a:ext cx="419100" cy="419100"/>
          </a:xfrm>
          <a:prstGeom prst="rect">
            <a:avLst/>
          </a:prstGeom>
          <a:ln/>
        </p:spPr>
      </p:pic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6629400" y="2343150"/>
            <a:ext cx="4572000" cy="1190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0F172A"/>
                </a:solidFill>
                <a:latin typeface="Microsoft YaHei"/>
                <a:ea typeface="Microsoft YaHei"/>
              </a:rPr>
              <a:t>7</a:t>
            </a:r>
            <a:r>
              <a:rPr lang="en-US" sz="4200" b="1">
                <a:solidFill>
                  <a:srgbClr val="06B6D4"/>
                </a:solidFill>
                <a:latin typeface="Microsoft YaHei"/>
                <a:ea typeface="Microsoft YaHei"/>
              </a:rPr>
              <a:t>/10</a:t>
            </a:r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6629400" y="3752850"/>
            <a:ext cx="45720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ten-year-olds in low- and middle-income countries 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cannot read a short story</a:t>
            </a: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990600" y="4619625"/>
            <a:ext cx="4572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Source: UNESCO, Global Report on Teachers</a:t>
            </a:r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6629400" y="4619625"/>
            <a:ext cx="4572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Source: World Bank, Learning Poverty</a:t>
            </a:r>
            <a:endParaRPr/>
          </a:p>
        </p:txBody>
      </p:sp>
      <p:sp>
        <p:nvSpPr>
          <p:cNvPr id="202" name="矩形: 圆角 201"/>
          <p:cNvSpPr/>
          <p:nvPr/>
        </p:nvSpPr>
        <p:spPr>
          <a:xfrm>
            <a:off x="609600" y="54483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800100" y="5486400"/>
            <a:ext cx="96869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One teacher cannot be everywhere. We built software that helps the whole room learn together.</a:t>
            </a:r>
            <a:endParaRPr/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矩形 20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09600" y="190500"/>
            <a:ext cx="6457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Our solution: one platform, three doors</a:t>
            </a:r>
            <a:endParaRPr/>
          </a:p>
        </p:txBody>
      </p:sp>
      <p:sp>
        <p:nvSpPr>
          <p:cNvPr id="209" name="矩形: 圆角 208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609600" y="1028700"/>
            <a:ext cx="94107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Most tools serve one person. Agentic EduVerse connects the teacher, the student and the parent — in one live classroom.</a:t>
            </a:r>
            <a:endParaRPr/>
          </a:p>
        </p:txBody>
      </p:sp>
      <p:sp>
        <p:nvSpPr>
          <p:cNvPr id="211" name="矩形: 圆角 210"/>
          <p:cNvSpPr/>
          <p:nvPr/>
        </p:nvSpPr>
        <p:spPr>
          <a:xfrm>
            <a:off x="609600" y="1600200"/>
            <a:ext cx="3476625" cy="180975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2" name="矩形: 圆角 211"/>
          <p:cNvSpPr/>
          <p:nvPr/>
        </p:nvSpPr>
        <p:spPr>
          <a:xfrm>
            <a:off x="857250" y="1847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213" name="图形 2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962025" y="1952625"/>
            <a:ext cx="228600" cy="228600"/>
          </a:xfrm>
          <a:prstGeom prst="rect">
            <a:avLst/>
          </a:prstGeom>
          <a:ln/>
        </p:spPr>
      </p:pic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409700" y="1943100"/>
            <a:ext cx="7715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Teacher</a:t>
            </a:r>
            <a:endParaRPr/>
          </a:p>
        </p:txBody>
      </p:sp>
      <p:sp>
        <p:nvSpPr>
          <p:cNvPr id="215" name="矩形: 圆角 214"/>
          <p:cNvSpPr/>
          <p:nvPr/>
        </p:nvSpPr>
        <p:spPr>
          <a:xfrm>
            <a:off x="4352925" y="1600200"/>
            <a:ext cx="3486150" cy="180975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6" name="矩形: 圆角 215"/>
          <p:cNvSpPr/>
          <p:nvPr/>
        </p:nvSpPr>
        <p:spPr>
          <a:xfrm>
            <a:off x="4600575" y="1847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217" name="图形 2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4705350" y="1952625"/>
            <a:ext cx="228600" cy="228600"/>
          </a:xfrm>
          <a:prstGeom prst="rect">
            <a:avLst/>
          </a:prstGeom>
          <a:ln/>
        </p:spPr>
      </p:pic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5153025" y="1943100"/>
            <a:ext cx="7905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Student</a:t>
            </a:r>
            <a:endParaRPr/>
          </a:p>
        </p:txBody>
      </p:sp>
      <p:sp>
        <p:nvSpPr>
          <p:cNvPr id="219" name="矩形: 圆角 218"/>
          <p:cNvSpPr/>
          <p:nvPr/>
        </p:nvSpPr>
        <p:spPr>
          <a:xfrm>
            <a:off x="8105775" y="1600200"/>
            <a:ext cx="3476625" cy="180975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20" name="矩形: 圆角 219"/>
          <p:cNvSpPr/>
          <p:nvPr/>
        </p:nvSpPr>
        <p:spPr>
          <a:xfrm>
            <a:off x="8353425" y="18478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221" name="图形 2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8458200" y="1952625"/>
            <a:ext cx="228600" cy="228600"/>
          </a:xfrm>
          <a:prstGeom prst="rect">
            <a:avLst/>
          </a:prstGeom>
          <a:ln/>
        </p:spPr>
      </p:pic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8905875" y="1943100"/>
            <a:ext cx="6572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Parent</a:t>
            </a:r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857250" y="2647950"/>
            <a:ext cx="2981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Runs the live lesson, uploads materials, records the class.</a:t>
            </a:r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4600575" y="2647950"/>
            <a:ext cx="29908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Joins with a room code, learns with five AI companions, earns coins.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8353425" y="2647950"/>
            <a:ext cx="2981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5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Links through a verified invite and follows progress every week.</a:t>
            </a:r>
            <a:endParaRPr/>
          </a:p>
        </p:txBody>
      </p:sp>
      <p:pic>
        <p:nvPicPr>
          <p:cNvPr id="226" name="图形 2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2676525" y="3543300"/>
            <a:ext cx="247650" cy="247650"/>
          </a:xfrm>
          <a:prstGeom prst="rect">
            <a:avLst/>
          </a:prstGeom>
          <a:ln/>
        </p:spPr>
      </p:pic>
      <p:pic>
        <p:nvPicPr>
          <p:cNvPr id="227" name="图形 2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5972175" y="3543300"/>
            <a:ext cx="247650" cy="247650"/>
          </a:xfrm>
          <a:prstGeom prst="rect">
            <a:avLst/>
          </a:prstGeom>
          <a:ln/>
        </p:spPr>
      </p:pic>
      <p:pic>
        <p:nvPicPr>
          <p:cNvPr id="228" name="图形 2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9267825" y="3543300"/>
            <a:ext cx="247650" cy="247650"/>
          </a:xfrm>
          <a:prstGeom prst="rect">
            <a:avLst/>
          </a:prstGeom>
          <a:ln/>
        </p:spPr>
      </p:pic>
      <p:sp>
        <p:nvSpPr>
          <p:cNvPr id="229" name="矩形: 圆角 228"/>
          <p:cNvSpPr/>
          <p:nvPr/>
        </p:nvSpPr>
        <p:spPr>
          <a:xfrm>
            <a:off x="609600" y="4000500"/>
            <a:ext cx="10972800" cy="1428750"/>
          </a:xfrm>
          <a:prstGeom prst="roundRect">
            <a:avLst>
              <a:gd name="adj" fmla="val 10667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90600" y="4229100"/>
            <a:ext cx="102108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One shared platform</a:t>
            </a:r>
            <a:endParaRPr/>
          </a:p>
        </p:txBody>
      </p:sp>
      <p:pic>
        <p:nvPicPr>
          <p:cNvPr id="231" name="图形 2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990600" y="5029200"/>
            <a:ext cx="171450" cy="171450"/>
          </a:xfrm>
          <a:prstGeom prst="rect">
            <a:avLst/>
          </a:prstGeom>
          <a:ln/>
        </p:spPr>
      </p:pic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238250" y="5029200"/>
            <a:ext cx="14192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Live video classroom</a:t>
            </a:r>
            <a:endParaRPr/>
          </a:p>
        </p:txBody>
      </p:sp>
      <p:pic>
        <p:nvPicPr>
          <p:cNvPr id="233" name="图形 2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3000375" y="5029200"/>
            <a:ext cx="171450" cy="171450"/>
          </a:xfrm>
          <a:prstGeom prst="rect">
            <a:avLst/>
          </a:prstGeom>
          <a:ln/>
        </p:spPr>
      </p:pic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3248025" y="5029200"/>
            <a:ext cx="18859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AI companions &amp; translator</a:t>
            </a:r>
            <a:endParaRPr/>
          </a:p>
        </p:txBody>
      </p:sp>
      <p:pic>
        <p:nvPicPr>
          <p:cNvPr id="235" name="图形 2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5476875" y="5029200"/>
            <a:ext cx="171450" cy="171450"/>
          </a:xfrm>
          <a:prstGeom prst="rect">
            <a:avLst/>
          </a:prstGeom>
          <a:ln/>
        </p:spPr>
      </p:pic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5724525" y="5029200"/>
            <a:ext cx="17811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Learning record &amp; reports</a:t>
            </a:r>
            <a:endParaRPr/>
          </a:p>
        </p:txBody>
      </p:sp>
      <p:pic>
        <p:nvPicPr>
          <p:cNvPr id="237" name="图形 2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7848600" y="5029200"/>
            <a:ext cx="171450" cy="171450"/>
          </a:xfrm>
          <a:prstGeom prst="rect">
            <a:avLst/>
          </a:prstGeom>
          <a:ln/>
        </p:spPr>
      </p:pic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8096250" y="5029200"/>
            <a:ext cx="1476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8 interface languages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矩形 2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609600" y="190500"/>
            <a:ext cx="59150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Teacher portal: run the whole lesson</a:t>
            </a:r>
            <a:endParaRPr/>
          </a:p>
        </p:txBody>
      </p:sp>
      <p:sp>
        <p:nvSpPr>
          <p:cNvPr id="244" name="矩形: 圆角 243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245" name="图形 2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609600" y="1447800"/>
            <a:ext cx="247650" cy="247650"/>
          </a:xfrm>
          <a:prstGeom prst="rect">
            <a:avLst/>
          </a:prstGeom>
          <a:ln/>
        </p:spPr>
      </p:pic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1009650" y="142875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Create a class in one minute</a:t>
            </a:r>
            <a:endParaRPr/>
          </a:p>
        </p:txBody>
      </p:sp>
      <p:pic>
        <p:nvPicPr>
          <p:cNvPr id="247" name="图形 2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609600" y="2428875"/>
            <a:ext cx="247650" cy="247650"/>
          </a:xfrm>
          <a:prstGeom prst="rect">
            <a:avLst/>
          </a:prstGeom>
          <a:ln/>
        </p:spPr>
      </p:pic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1009650" y="240982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One click goes live</a:t>
            </a:r>
            <a:endParaRPr/>
          </a:p>
        </p:txBody>
      </p:sp>
      <p:pic>
        <p:nvPicPr>
          <p:cNvPr id="249" name="图形 2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09600" y="3409950"/>
            <a:ext cx="247650" cy="247650"/>
          </a:xfrm>
          <a:prstGeom prst="rect">
            <a:avLst/>
          </a:prstGeom>
          <a:ln/>
        </p:spPr>
      </p:pic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009650" y="339090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Share materials instantly</a:t>
            </a:r>
            <a:endParaRPr/>
          </a:p>
        </p:txBody>
      </p:sp>
      <p:pic>
        <p:nvPicPr>
          <p:cNvPr id="251" name="图形 2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609600" y="4391025"/>
            <a:ext cx="247650" cy="247650"/>
          </a:xfrm>
          <a:prstGeom prst="rect">
            <a:avLst/>
          </a:prstGeom>
          <a:ln/>
        </p:spPr>
      </p:pic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1009650" y="437197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Invite parents safely</a:t>
            </a:r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1009650" y="167640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Every class gets a 6-character room code and an optional password.</a:t>
            </a:r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1009650" y="2657475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HD camera, microphone and screen share inside the browser.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009650" y="363855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Students see new files the moment they are uploaded — no refresh.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09650" y="4619625"/>
            <a:ext cx="3695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 signed link valid for 24 hours, tied to one verified email.</a:t>
            </a:r>
            <a:endParaRPr/>
          </a:p>
        </p:txBody>
      </p:sp>
      <p:sp>
        <p:nvSpPr>
          <p:cNvPr id="257" name="矩形: 圆角 256"/>
          <p:cNvSpPr/>
          <p:nvPr/>
        </p:nvSpPr>
        <p:spPr>
          <a:xfrm>
            <a:off x="52959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pPr/>
            <a:endParaRPr/>
          </a:p>
        </p:txBody>
      </p:sp>
      <p:pic>
        <p:nvPicPr>
          <p:cNvPr id="258" name="图片 257"/>
          <p:cNvPicPr>
            <a:picLocks noChangeAspect="1"/>
          </p:cNvPicPr>
          <p:nvPr/>
        </p:nvPicPr>
        <p:blipFill>
          <a:blip r:embed="rId5"/>
          <a:srcRect t="210" b="210"/>
          <a:stretch>
            <a:fillRect/>
          </a:stretch>
        </p:blipFill>
        <p:spPr>
          <a:xfrm>
            <a:off x="5429250" y="1562100"/>
            <a:ext cx="6019800" cy="3371850"/>
          </a:xfrm>
          <a:prstGeom prst="roundRect">
            <a:avLst>
              <a:gd name="adj" fmla="val 2260"/>
            </a:avLst>
          </a:prstGeom>
          <a:ln/>
        </p:spPr>
      </p:pic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54292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class cards with room codes and a live status badge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矩形 2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09600" y="190500"/>
            <a:ext cx="60483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Student portal: progress you can feel</a:t>
            </a:r>
            <a:endParaRPr/>
          </a:p>
        </p:txBody>
      </p:sp>
      <p:sp>
        <p:nvSpPr>
          <p:cNvPr id="265" name="矩形: 圆角 264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66" name="矩形: 圆角 265"/>
          <p:cNvSpPr/>
          <p:nvPr/>
        </p:nvSpPr>
        <p:spPr>
          <a:xfrm>
            <a:off x="6096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pPr/>
            <a:endParaRPr/>
          </a:p>
        </p:txBody>
      </p:sp>
      <p:pic>
        <p:nvPicPr>
          <p:cNvPr id="267" name="图片 266"/>
          <p:cNvPicPr>
            <a:picLocks noChangeAspect="1"/>
          </p:cNvPicPr>
          <p:nvPr/>
        </p:nvPicPr>
        <p:blipFill>
          <a:blip r:embed="rId1"/>
          <a:srcRect t="210" b="210"/>
          <a:stretch>
            <a:fillRect/>
          </a:stretch>
        </p:blipFill>
        <p:spPr>
          <a:xfrm>
            <a:off x="742950" y="1562100"/>
            <a:ext cx="6019800" cy="3371850"/>
          </a:xfrm>
          <a:prstGeom prst="roundRect">
            <a:avLst>
              <a:gd name="adj" fmla="val 2260"/>
            </a:avLst>
          </a:prstGeom>
          <a:ln/>
        </p:spPr>
      </p:pic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7429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weekly stats, coins and one-tap class joining</a:t>
            </a:r>
            <a:endParaRPr/>
          </a:p>
        </p:txBody>
      </p:sp>
      <p:pic>
        <p:nvPicPr>
          <p:cNvPr id="269" name="图形 2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7486650" y="1447800"/>
            <a:ext cx="247650" cy="247650"/>
          </a:xfrm>
          <a:prstGeom prst="rect">
            <a:avLst/>
          </a:prstGeom>
          <a:ln/>
        </p:spPr>
      </p:pic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7886700" y="142875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Join with a room code</a:t>
            </a:r>
            <a:endParaRPr/>
          </a:p>
        </p:txBody>
      </p:sp>
      <p:pic>
        <p:nvPicPr>
          <p:cNvPr id="271" name="图形 2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486650" y="2428875"/>
            <a:ext cx="247650" cy="247650"/>
          </a:xfrm>
          <a:prstGeom prst="rect">
            <a:avLst/>
          </a:prstGeom>
          <a:ln/>
        </p:spPr>
      </p:pic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7886700" y="240982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Coins for real effort</a:t>
            </a:r>
            <a:endParaRPr/>
          </a:p>
        </p:txBody>
      </p:sp>
      <p:pic>
        <p:nvPicPr>
          <p:cNvPr id="273" name="图形 2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7486650" y="3171825"/>
            <a:ext cx="247650" cy="247650"/>
          </a:xfrm>
          <a:prstGeom prst="rect">
            <a:avLst/>
          </a:prstGeom>
          <a:ln/>
        </p:spPr>
      </p:pic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7886700" y="3152775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Weekly progress, made visible</a:t>
            </a:r>
            <a:endParaRPr/>
          </a:p>
        </p:txBody>
      </p:sp>
      <p:pic>
        <p:nvPicPr>
          <p:cNvPr id="275" name="图形 2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7486650" y="4152900"/>
            <a:ext cx="247650" cy="247650"/>
          </a:xfrm>
          <a:prstGeom prst="rect">
            <a:avLst/>
          </a:prstGeom>
          <a:ln/>
        </p:spPr>
      </p:pic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886700" y="4133850"/>
            <a:ext cx="3695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Microsoft YaHei"/>
                <a:ea typeface="Microsoft YaHei"/>
              </a:rPr>
              <a:t>Enter the live classroom</a:t>
            </a:r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7886700" y="167640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Codes avoid look-alike characters (no 0, 1, I, O) and ignore letter case.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7886700" y="2657475"/>
            <a:ext cx="36957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Joining a class, answering and practising all earn coins.</a:t>
            </a:r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7886700" y="3400425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Study time, answer accuracy and weak spots on one small card.</a:t>
            </a:r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886700" y="4381500"/>
            <a:ext cx="36957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Students watch the teacher, join the whiteboard and raise a hand.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3" name=""/>
        <p:cNvGrpSpPr/>
        <p:nvPr/>
      </p:nvGrpSpPr>
      <p:grpSpPr>
        <a:xfrm rot="0" flipH="0" flipV="0">
          <a:off x="0" y="0"/>
          <a:ext cx="-2147483648" cy="-2147483648"/>
          <a:chOff x="0" y="0"/>
          <a:chExt cx="12192000" cy="6858000"/>
        </a:xfrm>
      </p:grpSpPr>
      <p:sp>
        <p:nvSpPr>
          <p:cNvPr id="284" name="矩形 2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609600" y="190500"/>
            <a:ext cx="75819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The AI companion teaches — it does not cheat</a:t>
            </a:r>
            <a:endParaRPr/>
          </a:p>
        </p:txBody>
      </p:sp>
      <p:sp>
        <p:nvSpPr>
          <p:cNvPr id="286" name="矩形: 圆角 285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87" name="矩形: 圆角 286"/>
          <p:cNvSpPr/>
          <p:nvPr/>
        </p:nvSpPr>
        <p:spPr>
          <a:xfrm>
            <a:off x="609600" y="1381125"/>
            <a:ext cx="6477000" cy="3990975"/>
          </a:xfrm>
          <a:prstGeom prst="roundRect">
            <a:avLst>
              <a:gd name="adj" fmla="val 3341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pPr/>
            <a:endParaRPr/>
          </a:p>
        </p:txBody>
      </p:sp>
      <p:sp>
        <p:nvSpPr>
          <p:cNvPr id="288" name="文本框 288" descr="{&quot;isTemplate&quot;:true,&quot;type&quot;:&quot;text&quot;}"/>
          <p:cNvSpPr txBox="1"/>
          <p:nvPr/>
        </p:nvSpPr>
        <p:spPr>
          <a:xfrm>
            <a:off x="742950" y="5095875"/>
            <a:ext cx="62103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the answer comes with 5 real teacher videos below it</a:t>
            </a:r>
            <a:endParaRPr/>
          </a:p>
        </p:txBody>
      </p:sp>
      <p:sp>
        <p:nvSpPr>
          <p:cNvPr id="289" name="矩形: 圆角 289"/>
          <p:cNvSpPr/>
          <p:nvPr/>
        </p:nvSpPr>
        <p:spPr>
          <a:xfrm>
            <a:off x="7772400" y="1428750"/>
            <a:ext cx="3810000" cy="1095375"/>
          </a:xfrm>
          <a:prstGeom prst="roundRect">
            <a:avLst>
              <a:gd name="adj" fmla="val 10435"/>
            </a:avLst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0" name="文本框 290" descr="{&quot;isTemplate&quot;:true,&quot;type&quot;:&quot;text&quot;}"/>
          <p:cNvSpPr txBox="1"/>
          <p:nvPr/>
        </p:nvSpPr>
        <p:spPr>
          <a:xfrm>
            <a:off x="7943850" y="1600200"/>
            <a:ext cx="3467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Guided, not instant</a:t>
            </a:r>
            <a:endParaRPr/>
          </a:p>
        </p:txBody>
      </p:sp>
      <p:pic>
        <p:nvPicPr>
          <p:cNvPr id="291" name="图形 29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7772400" y="2733675"/>
            <a:ext cx="228600" cy="228600"/>
          </a:xfrm>
          <a:prstGeom prst="rect">
            <a:avLst/>
          </a:prstGeom>
          <a:ln/>
        </p:spPr>
      </p:pic>
      <p:sp>
        <p:nvSpPr>
          <p:cNvPr id="292" name="文本框 292" descr="{&quot;isTemplate&quot;:true,&quot;type&quot;:&quot;text&quot;}"/>
          <p:cNvSpPr txBox="1"/>
          <p:nvPr/>
        </p:nvSpPr>
        <p:spPr>
          <a:xfrm>
            <a:off x="8134350" y="2714625"/>
            <a:ext cx="3448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Five subject companions</a:t>
            </a:r>
            <a:endParaRPr/>
          </a:p>
        </p:txBody>
      </p:sp>
      <p:pic>
        <p:nvPicPr>
          <p:cNvPr id="293" name="图形 2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7772400" y="3619500"/>
            <a:ext cx="228600" cy="228600"/>
          </a:xfrm>
          <a:prstGeom prst="rect">
            <a:avLst/>
          </a:prstGeom>
          <a:ln/>
        </p:spPr>
      </p:pic>
      <p:sp>
        <p:nvSpPr>
          <p:cNvPr id="294" name="文本框 294" descr="{&quot;isTemplate&quot;:true,&quot;type&quot;:&quot;text&quot;}"/>
          <p:cNvSpPr txBox="1"/>
          <p:nvPr/>
        </p:nvSpPr>
        <p:spPr>
          <a:xfrm>
            <a:off x="8134350" y="3600450"/>
            <a:ext cx="3448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Five real videos per answer</a:t>
            </a:r>
            <a:endParaRPr/>
          </a:p>
        </p:txBody>
      </p:sp>
      <p:pic>
        <p:nvPicPr>
          <p:cNvPr id="295" name="图形 2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772400" y="4505325"/>
            <a:ext cx="228600" cy="228600"/>
          </a:xfrm>
          <a:prstGeom prst="rect">
            <a:avLst/>
          </a:prstGeom>
          <a:ln/>
        </p:spPr>
      </p:pic>
      <p:sp>
        <p:nvSpPr>
          <p:cNvPr id="296" name="文本框 296" descr="{&quot;isTemplate&quot;:true,&quot;type&quot;:&quot;text&quot;}"/>
          <p:cNvSpPr txBox="1"/>
          <p:nvPr/>
        </p:nvSpPr>
        <p:spPr>
          <a:xfrm>
            <a:off x="8134350" y="4486275"/>
            <a:ext cx="3448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Nothing gets lost</a:t>
            </a:r>
            <a:endParaRPr/>
          </a:p>
        </p:txBody>
      </p:sp>
      <p:sp>
        <p:nvSpPr>
          <p:cNvPr id="297" name="文本框 297" descr="{&quot;isTemplate&quot;:true,&quot;type&quot;:&quot;text&quot;}"/>
          <p:cNvSpPr txBox="1"/>
          <p:nvPr/>
        </p:nvSpPr>
        <p:spPr>
          <a:xfrm>
            <a:off x="7943850" y="1866900"/>
            <a:ext cx="34671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The AI asks questions back and gives a practice problem — the student still thinks.</a:t>
            </a:r>
            <a:endParaRPr/>
          </a:p>
        </p:txBody>
      </p:sp>
      <p:sp>
        <p:nvSpPr>
          <p:cNvPr id="298" name="文本框 298" descr="{&quot;isTemplate&quot;:true,&quot;type&quot;:&quot;text&quot;}"/>
          <p:cNvSpPr txBox="1"/>
          <p:nvPr/>
        </p:nvSpPr>
        <p:spPr>
          <a:xfrm>
            <a:off x="8134350" y="2943225"/>
            <a:ext cx="34480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Maths, Chinese, English, coding and general — each keeps its own chat history.</a:t>
            </a:r>
            <a:endParaRPr/>
          </a:p>
        </p:txBody>
      </p:sp>
      <p:sp>
        <p:nvSpPr>
          <p:cNvPr id="299" name="文本框 299" descr="{&quot;isTemplate&quot;:true,&quot;type&quot;:&quot;text&quot;}"/>
          <p:cNvSpPr txBox="1"/>
          <p:nvPr/>
        </p:nvSpPr>
        <p:spPr>
          <a:xfrm>
            <a:off x="8134350" y="3829050"/>
            <a:ext cx="34480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Found in about one second from public teaching videos. One click opens the video.</a:t>
            </a:r>
            <a:endParaRPr/>
          </a:p>
        </p:txBody>
      </p:sp>
      <p:sp>
        <p:nvSpPr>
          <p:cNvPr id="300" name="文本框 300" descr="{&quot;isTemplate&quot;:true,&quot;type&quot;:&quot;text&quot;}"/>
          <p:cNvSpPr txBox="1"/>
          <p:nvPr/>
        </p:nvSpPr>
        <p:spPr>
          <a:xfrm>
            <a:off x="8134350" y="4714875"/>
            <a:ext cx="34480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Every session is saved per companion and can be reopened from history.</a:t>
            </a:r>
            <a:endParaRPr/>
          </a:p>
        </p:txBody>
      </p:sp>
      <p:sp>
        <p:nvSpPr>
          <p:cNvPr id="301" name="文本框 301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02" name="文本框 302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  <p:pic>
        <p:nvPicPr>
          <p:cNvPr id="303" name=""/>
          <p:cNvPicPr/>
          <p:nvPr/>
        </p:nvPicPr>
        <p:blipFill>
          <a:blip r:embed="rId4"/>
          <a:stretch/>
        </p:blipFill>
        <p:spPr>
          <a:xfrm>
            <a:off x="749300" y="1511300"/>
            <a:ext cx="6208888" cy="349250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矩形 3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609600" y="190500"/>
            <a:ext cx="56102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From a question to the right video</a:t>
            </a:r>
            <a:endParaRPr/>
          </a:p>
        </p:txBody>
      </p:sp>
      <p:sp>
        <p:nvSpPr>
          <p:cNvPr id="307" name="矩形: 圆角 306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08" name="矩形: 圆角 307"/>
          <p:cNvSpPr/>
          <p:nvPr/>
        </p:nvSpPr>
        <p:spPr>
          <a:xfrm>
            <a:off x="609600" y="1524000"/>
            <a:ext cx="2466975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309" name="图形 3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819150" y="1733550"/>
            <a:ext cx="323850" cy="323850"/>
          </a:xfrm>
          <a:prstGeom prst="rect">
            <a:avLst/>
          </a:prstGeom>
          <a:ln/>
        </p:spPr>
      </p:pic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819150" y="3114675"/>
            <a:ext cx="20478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1 · Student asks</a:t>
            </a:r>
            <a:endParaRPr/>
          </a:p>
        </p:txBody>
      </p:sp>
      <p:pic>
        <p:nvPicPr>
          <p:cNvPr id="311" name="图形 3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3076575" y="2562225"/>
            <a:ext cx="209550" cy="209550"/>
          </a:xfrm>
          <a:prstGeom prst="rect">
            <a:avLst/>
          </a:prstGeom>
          <a:ln/>
        </p:spPr>
      </p:pic>
      <p:sp>
        <p:nvSpPr>
          <p:cNvPr id="312" name="矩形: 圆角 311"/>
          <p:cNvSpPr/>
          <p:nvPr/>
        </p:nvSpPr>
        <p:spPr>
          <a:xfrm>
            <a:off x="3381375" y="1524000"/>
            <a:ext cx="2457450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313" name="图形 3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3590925" y="1733550"/>
            <a:ext cx="323850" cy="323850"/>
          </a:xfrm>
          <a:prstGeom prst="rect">
            <a:avLst/>
          </a:prstGeom>
          <a:ln/>
        </p:spPr>
      </p:pic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3590925" y="2886075"/>
            <a:ext cx="2038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2 · AI finds the point</a:t>
            </a:r>
            <a:endParaRPr/>
          </a:p>
        </p:txBody>
      </p:sp>
      <p:pic>
        <p:nvPicPr>
          <p:cNvPr id="315" name="图形 3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5838825" y="2562225"/>
            <a:ext cx="209550" cy="209550"/>
          </a:xfrm>
          <a:prstGeom prst="rect">
            <a:avLst/>
          </a:prstGeom>
          <a:ln/>
        </p:spPr>
      </p:pic>
      <p:sp>
        <p:nvSpPr>
          <p:cNvPr id="316" name="矩形: 圆角 315"/>
          <p:cNvSpPr/>
          <p:nvPr/>
        </p:nvSpPr>
        <p:spPr>
          <a:xfrm>
            <a:off x="6143625" y="1524000"/>
            <a:ext cx="2466975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317" name="图形 3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6353175" y="1733550"/>
            <a:ext cx="323850" cy="323850"/>
          </a:xfrm>
          <a:prstGeom prst="rect">
            <a:avLst/>
          </a:prstGeom>
          <a:ln/>
        </p:spPr>
      </p:pic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6353175" y="2695575"/>
            <a:ext cx="2047875" cy="381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3 · We search public videos</a:t>
            </a:r>
            <a:endParaRPr/>
          </a:p>
        </p:txBody>
      </p:sp>
      <p:pic>
        <p:nvPicPr>
          <p:cNvPr id="319" name="图形 3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8610600" y="2562225"/>
            <a:ext cx="209550" cy="209550"/>
          </a:xfrm>
          <a:prstGeom prst="rect">
            <a:avLst/>
          </a:prstGeom>
          <a:ln/>
        </p:spPr>
      </p:pic>
      <p:sp>
        <p:nvSpPr>
          <p:cNvPr id="320" name="矩形: 圆角 319"/>
          <p:cNvSpPr/>
          <p:nvPr/>
        </p:nvSpPr>
        <p:spPr>
          <a:xfrm>
            <a:off x="8915400" y="1524000"/>
            <a:ext cx="2667000" cy="2286000"/>
          </a:xfrm>
          <a:prstGeom prst="roundRect">
            <a:avLst>
              <a:gd name="adj" fmla="val 5833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321" name="图形 3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9124950" y="1733550"/>
            <a:ext cx="323850" cy="323850"/>
          </a:xfrm>
          <a:prstGeom prst="rect">
            <a:avLst/>
          </a:prstGeom>
          <a:ln/>
        </p:spPr>
      </p:pic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9124950" y="2886075"/>
            <a:ext cx="22479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38" b="1">
                <a:solidFill>
                  <a:srgbClr val="0F172A"/>
                </a:solidFill>
                <a:latin typeface="Microsoft YaHei"/>
                <a:ea typeface="Microsoft YaHei"/>
              </a:rPr>
              <a:t>4 · Student clicks</a:t>
            </a:r>
            <a:endParaRPr/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819150" y="3362325"/>
            <a:ext cx="20478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"What does a fraction mean?"</a:t>
            </a:r>
            <a:endParaRPr/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3590925" y="3133725"/>
            <a:ext cx="2038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The answer also carries 1–3 clean search words.</a:t>
            </a:r>
            <a:endParaRPr/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6353175" y="3133725"/>
            <a:ext cx="2047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Real teacher videos, filtered and ranked.</a:t>
            </a:r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9124950" y="3133725"/>
            <a:ext cx="22479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 new tab opens the video. Not helpful? Just close the list.</a:t>
            </a:r>
            <a:endParaRPr/>
          </a:p>
        </p:txBody>
      </p:sp>
      <p:sp>
        <p:nvSpPr>
          <p:cNvPr id="327" name="矩形: 圆角 326"/>
          <p:cNvSpPr/>
          <p:nvPr/>
        </p:nvSpPr>
        <p:spPr>
          <a:xfrm>
            <a:off x="609600" y="4286250"/>
            <a:ext cx="3476625" cy="1238250"/>
          </a:xfrm>
          <a:prstGeom prst="roundRect">
            <a:avLst>
              <a:gd name="adj" fmla="val 10769"/>
            </a:avLst>
          </a:prstGeom>
          <a:ln w="25400">
            <a:solidFill>
              <a:srgbClr val="1D4ED8">
                <a:alpha val="18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800100" y="4476750"/>
            <a:ext cx="3095625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D8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29" name="矩形: 圆角 328"/>
          <p:cNvSpPr/>
          <p:nvPr/>
        </p:nvSpPr>
        <p:spPr>
          <a:xfrm>
            <a:off x="4352925" y="4286250"/>
            <a:ext cx="3486150" cy="1238250"/>
          </a:xfrm>
          <a:prstGeom prst="roundRect">
            <a:avLst>
              <a:gd name="adj" fmla="val 10769"/>
            </a:avLst>
          </a:prstGeom>
          <a:ln w="25400">
            <a:solidFill>
              <a:srgbClr val="1D4ED8">
                <a:alpha val="18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4543425" y="4476750"/>
            <a:ext cx="3105150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D8"/>
                </a:solidFill>
                <a:latin typeface="Microsoft YaHei"/>
                <a:ea typeface="Microsoft YaHei"/>
              </a:rPr>
              <a:t>~1s</a:t>
            </a:r>
            <a:endParaRPr/>
          </a:p>
        </p:txBody>
      </p:sp>
      <p:sp>
        <p:nvSpPr>
          <p:cNvPr id="331" name="矩形: 圆角 330"/>
          <p:cNvSpPr/>
          <p:nvPr/>
        </p:nvSpPr>
        <p:spPr>
          <a:xfrm>
            <a:off x="8105775" y="4286250"/>
            <a:ext cx="3476625" cy="1238250"/>
          </a:xfrm>
          <a:prstGeom prst="roundRect">
            <a:avLst>
              <a:gd name="adj" fmla="val 10769"/>
            </a:avLst>
          </a:prstGeom>
          <a:ln w="25400">
            <a:solidFill>
              <a:srgbClr val="1D4ED8">
                <a:alpha val="18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8296275" y="4476750"/>
            <a:ext cx="3095625" cy="457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D4ED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800100" y="5095875"/>
            <a:ext cx="309562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videos suggested under every answer</a:t>
            </a:r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543425" y="5095875"/>
            <a:ext cx="310515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to find them, with a 30-minute cache</a:t>
            </a:r>
            <a:endParaRPr/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8296275" y="5095875"/>
            <a:ext cx="309562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en-US" sz="1050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paid search keys — open public data only</a:t>
            </a:r>
            <a:endParaRPr/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38" name=""/>
        <p:cNvGrpSpPr/>
        <p:nvPr/>
      </p:nvGrpSpPr>
      <p:grpSpPr>
        <a:xfrm rot="0" flipH="0" flipV="0">
          <a:off x="0" y="0"/>
          <a:ext cx="-2147483648" cy="-2147483648"/>
          <a:chOff x="0" y="0"/>
          <a:chExt cx="12192000" cy="6858000"/>
        </a:xfrm>
      </p:grpSpPr>
      <p:sp>
        <p:nvSpPr>
          <p:cNvPr id="339" name="矩形 3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09600" y="190500"/>
            <a:ext cx="63912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Built for many languages from day one</a:t>
            </a:r>
            <a:endParaRPr/>
          </a:p>
        </p:txBody>
      </p:sp>
      <p:sp>
        <p:nvSpPr>
          <p:cNvPr id="341" name="矩形: 圆角 340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609600" y="1428750"/>
            <a:ext cx="1419225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1D4ED8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343" name="矩形 342"/>
          <p:cNvSpPr/>
          <p:nvPr/>
        </p:nvSpPr>
        <p:spPr>
          <a:xfrm>
            <a:off x="2257425" y="2076450"/>
            <a:ext cx="19050" cy="85725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2505075" y="1428750"/>
            <a:ext cx="1190625" cy="962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06B6D4"/>
                </a:solidFill>
                <a:latin typeface="Microsoft YaHei"/>
                <a:ea typeface="Microsoft YaHei"/>
              </a:rPr>
              <a:t>17</a:t>
            </a:r>
            <a:endParaRPr/>
          </a:p>
        </p:txBody>
      </p:sp>
      <p:pic>
        <p:nvPicPr>
          <p:cNvPr id="345" name="图形 3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609600" y="3238500"/>
            <a:ext cx="228600" cy="228600"/>
          </a:xfrm>
          <a:prstGeom prst="rect">
            <a:avLst/>
          </a:prstGeom>
          <a:ln/>
        </p:spPr>
      </p:pic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971550" y="3219450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Whole product, not a widget</a:t>
            </a:r>
            <a:endParaRPr/>
          </a:p>
        </p:txBody>
      </p:sp>
      <p:pic>
        <p:nvPicPr>
          <p:cNvPr id="347" name="图形 3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609600" y="4219575"/>
            <a:ext cx="228600" cy="228600"/>
          </a:xfrm>
          <a:prstGeom prst="rect">
            <a:avLst/>
          </a:prstGeom>
          <a:ln/>
        </p:spPr>
      </p:pic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971550" y="4200525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Two-way translator</a:t>
            </a:r>
            <a:endParaRPr/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09600" y="2447925"/>
            <a:ext cx="1419225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interface languages,</a:t>
            </a:r>
            <a:endParaRPr/>
          </a:p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switched in one click</a:t>
            </a:r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505075" y="2447925"/>
            <a:ext cx="1190625" cy="485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languages in the</a:t>
            </a:r>
            <a:endParaRPr/>
          </a:p>
          <a:p>
            <a:pPr>
              <a:lnSpc>
                <a:spcPct val="140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built-in translator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971550" y="3448050"/>
            <a:ext cx="37338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Menus, buttons, forms and messages all follow the chosen language — even after refresh.</a:t>
            </a:r>
            <a:endParaRPr/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971550" y="4429125"/>
            <a:ext cx="37338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Auto-detects the source language, swaps directions, copies the result with one click.</a:t>
            </a:r>
            <a:endParaRPr/>
          </a:p>
        </p:txBody>
      </p:sp>
      <p:sp>
        <p:nvSpPr>
          <p:cNvPr id="353" name="矩形: 圆角 352"/>
          <p:cNvSpPr/>
          <p:nvPr/>
        </p:nvSpPr>
        <p:spPr>
          <a:xfrm>
            <a:off x="52959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pPr/>
            <a:endParaRPr/>
          </a:p>
        </p:txBody>
      </p:sp>
      <p:sp>
        <p:nvSpPr>
          <p:cNvPr id="354" name="文本框 354" descr="{&quot;isTemplate&quot;:true,&quot;type&quot;:&quot;text&quot;}"/>
          <p:cNvSpPr txBox="1"/>
          <p:nvPr/>
        </p:nvSpPr>
        <p:spPr>
          <a:xfrm>
            <a:off x="54292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English, Japanese, French, German and 13 more, with auto-detect</a:t>
            </a:r>
            <a:endParaRPr/>
          </a:p>
        </p:txBody>
      </p:sp>
      <p:sp>
        <p:nvSpPr>
          <p:cNvPr id="355" name="文本框 355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56" name="文本框 356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  <p:pic>
        <p:nvPicPr>
          <p:cNvPr id="357" name=""/>
          <p:cNvPicPr/>
          <p:nvPr/>
        </p:nvPicPr>
        <p:blipFill>
          <a:blip r:embed="rId3"/>
          <a:stretch/>
        </p:blipFill>
        <p:spPr>
          <a:xfrm>
            <a:off x="5435600" y="1562100"/>
            <a:ext cx="6005688" cy="337820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矩形 3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609600" y="190500"/>
            <a:ext cx="53435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Parents stay in the loop — safely</a:t>
            </a:r>
            <a:endParaRPr/>
          </a:p>
        </p:txBody>
      </p:sp>
      <p:sp>
        <p:nvSpPr>
          <p:cNvPr id="361" name="矩形: 圆角 360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62" name="矩形: 圆角 361"/>
          <p:cNvSpPr/>
          <p:nvPr/>
        </p:nvSpPr>
        <p:spPr>
          <a:xfrm>
            <a:off x="609600" y="1428750"/>
            <a:ext cx="6286500" cy="3876675"/>
          </a:xfrm>
          <a:prstGeom prst="roundRect">
            <a:avLst>
              <a:gd name="adj" fmla="val 3440"/>
            </a:avLst>
          </a:prstGeom>
          <a:solidFill>
            <a:srgbClr val="F1F5F9"/>
          </a:solidFill>
          <a:ln/>
          <a:effectLst>
            <a:outerShdw blurRad="266700" dist="76200" dir="5400000">
              <a:srgbClr val="0F172A">
                <a:alpha val="14000"/>
              </a:srgbClr>
            </a:outerShdw>
          </a:effectLst>
        </p:spPr>
        <p:txBody>
          <a:bodyPr/>
          <a:lstStyle/>
          <a:p>
            <a:pPr/>
            <a:endParaRPr/>
          </a:p>
        </p:txBody>
      </p:sp>
      <p:pic>
        <p:nvPicPr>
          <p:cNvPr id="363" name="图片 362"/>
          <p:cNvPicPr>
            <a:picLocks noChangeAspect="1"/>
          </p:cNvPicPr>
          <p:nvPr/>
        </p:nvPicPr>
        <p:blipFill>
          <a:blip r:embed="rId1"/>
          <a:srcRect t="210" b="210"/>
          <a:stretch>
            <a:fillRect/>
          </a:stretch>
        </p:blipFill>
        <p:spPr>
          <a:xfrm>
            <a:off x="742950" y="1562100"/>
            <a:ext cx="6019800" cy="3371850"/>
          </a:xfrm>
          <a:prstGeom prst="roundRect">
            <a:avLst>
              <a:gd name="adj" fmla="val 2260"/>
            </a:avLst>
          </a:prstGeom>
          <a:ln/>
        </p:spPr>
      </p:pic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742950" y="5029200"/>
            <a:ext cx="60198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5000"/>
                  </a:srgbClr>
                </a:solidFill>
                <a:latin typeface="Microsoft YaHei"/>
                <a:ea typeface="Microsoft YaHei"/>
              </a:rPr>
              <a:t>Real product — linked child, weekly window, one-tap AI report</a:t>
            </a:r>
            <a:endParaRPr/>
          </a:p>
        </p:txBody>
      </p:sp>
      <p:pic>
        <p:nvPicPr>
          <p:cNvPr id="365" name="图形 3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7486650" y="2247900"/>
            <a:ext cx="228600" cy="228600"/>
          </a:xfrm>
          <a:prstGeom prst="rect">
            <a:avLst/>
          </a:prstGeom>
          <a:ln/>
        </p:spPr>
      </p:pic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7848600" y="2228850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Invite-only link</a:t>
            </a:r>
            <a:endParaRPr/>
          </a:p>
        </p:txBody>
      </p:sp>
      <p:pic>
        <p:nvPicPr>
          <p:cNvPr id="367" name="图形 3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486650" y="2943225"/>
            <a:ext cx="228600" cy="228600"/>
          </a:xfrm>
          <a:prstGeom prst="rect">
            <a:avLst/>
          </a:prstGeom>
          <a:ln/>
        </p:spPr>
      </p:pic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7848600" y="2924175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Expires in 24 hours</a:t>
            </a:r>
            <a:endParaRPr/>
          </a:p>
        </p:txBody>
      </p:sp>
      <p:pic>
        <p:nvPicPr>
          <p:cNvPr id="369" name="图形 3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7486650" y="3638550"/>
            <a:ext cx="228600" cy="228600"/>
          </a:xfrm>
          <a:prstGeom prst="rect">
            <a:avLst/>
          </a:prstGeom>
          <a:ln/>
        </p:spPr>
      </p:pic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7848600" y="3619500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Email must match</a:t>
            </a:r>
            <a:endParaRPr/>
          </a:p>
        </p:txBody>
      </p:sp>
      <p:pic>
        <p:nvPicPr>
          <p:cNvPr id="371" name="图形 3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>
            <a:off x="7486650" y="4333875"/>
            <a:ext cx="228600" cy="228600"/>
          </a:xfrm>
          <a:prstGeom prst="rect">
            <a:avLst/>
          </a:prstGeom>
          <a:ln/>
        </p:spPr>
      </p:pic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7848600" y="4314825"/>
            <a:ext cx="3733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Weekly AI growth report</a:t>
            </a:r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7486650" y="1428750"/>
            <a:ext cx="40957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0F172A">
                    <a:alpha val="75000"/>
                  </a:srgbClr>
                </a:solidFill>
                <a:latin typeface="Microsoft YaHei"/>
                <a:ea typeface="Microsoft YaHei"/>
              </a:rPr>
              <a:t>A parent can never claim a child by typing a name. The teacher sends an invite; the link does the rest.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7848600" y="2457450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Created by the teacher for one student, one email.</a:t>
            </a:r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7848600" y="3152775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And works exactly once. Old links simply die.</a:t>
            </a:r>
            <a:endParaRPr/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7848600" y="3848100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Only the invited parent account can accept it.</a:t>
            </a:r>
            <a:endParaRPr/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7848600" y="4543425"/>
            <a:ext cx="3733800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Effort, emotions and quiz results in plain words.</a:t>
            </a:r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09600" y="190500"/>
            <a:ext cx="67341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A live classroom that never loses a lesson</a:t>
            </a:r>
            <a:endParaRPr/>
          </a:p>
        </p:txBody>
      </p:sp>
      <p:sp>
        <p:nvSpPr>
          <p:cNvPr id="15" name="矩形: 圆角 14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6" name="矩形: 圆角 15"/>
          <p:cNvSpPr/>
          <p:nvPr/>
        </p:nvSpPr>
        <p:spPr>
          <a:xfrm>
            <a:off x="609600" y="1428750"/>
            <a:ext cx="2562225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7" name="矩形: 圆角 16"/>
          <p:cNvSpPr/>
          <p:nvPr/>
        </p:nvSpPr>
        <p:spPr>
          <a:xfrm>
            <a:off x="857250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962025" y="1781175"/>
            <a:ext cx="209550" cy="209550"/>
          </a:xfrm>
          <a:prstGeom prst="rect">
            <a:avLst/>
          </a:prstGeom>
          <a:ln/>
        </p:spPr>
      </p:pic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1304925" y="1676400"/>
            <a:ext cx="16192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HD video &amp; screen share</a:t>
            </a:r>
            <a:endParaRPr/>
          </a:p>
        </p:txBody>
      </p:sp>
      <p:sp>
        <p:nvSpPr>
          <p:cNvPr id="20" name="矩形: 圆角 19"/>
          <p:cNvSpPr/>
          <p:nvPr/>
        </p:nvSpPr>
        <p:spPr>
          <a:xfrm>
            <a:off x="3419475" y="1428750"/>
            <a:ext cx="2552700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1" name="矩形: 圆角 20"/>
          <p:cNvSpPr/>
          <p:nvPr/>
        </p:nvSpPr>
        <p:spPr>
          <a:xfrm>
            <a:off x="3667125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3771900" y="1781175"/>
            <a:ext cx="209550" cy="209550"/>
          </a:xfrm>
          <a:prstGeom prst="rect">
            <a:avLst/>
          </a:prstGeom>
          <a:ln/>
        </p:spPr>
      </p:pic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4162425" y="1781175"/>
            <a:ext cx="1562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One-click recording</a:t>
            </a:r>
            <a:endParaRPr/>
          </a:p>
        </p:txBody>
      </p:sp>
      <p:sp>
        <p:nvSpPr>
          <p:cNvPr id="24" name="矩形: 圆角 23"/>
          <p:cNvSpPr/>
          <p:nvPr/>
        </p:nvSpPr>
        <p:spPr>
          <a:xfrm>
            <a:off x="6219825" y="1428750"/>
            <a:ext cx="2562225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5" name="矩形: 圆角 24"/>
          <p:cNvSpPr/>
          <p:nvPr/>
        </p:nvSpPr>
        <p:spPr>
          <a:xfrm>
            <a:off x="6467475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6572250" y="1781175"/>
            <a:ext cx="209550" cy="209550"/>
          </a:xfrm>
          <a:prstGeom prst="rect">
            <a:avLst/>
          </a:prstGeom>
          <a:ln/>
        </p:spPr>
      </p:pic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915150" y="1676400"/>
            <a:ext cx="16192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Playback with the whiteboard</a:t>
            </a:r>
            <a:endParaRPr/>
          </a:p>
        </p:txBody>
      </p:sp>
      <p:sp>
        <p:nvSpPr>
          <p:cNvPr id="28" name="矩形: 圆角 27"/>
          <p:cNvSpPr/>
          <p:nvPr/>
        </p:nvSpPr>
        <p:spPr>
          <a:xfrm>
            <a:off x="9029700" y="1428750"/>
            <a:ext cx="2552700" cy="2095500"/>
          </a:xfrm>
          <a:prstGeom prst="roundRect">
            <a:avLst>
              <a:gd name="adj" fmla="val 6364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29" name="矩形: 圆角 28"/>
          <p:cNvSpPr/>
          <p:nvPr/>
        </p:nvSpPr>
        <p:spPr>
          <a:xfrm>
            <a:off x="9277350" y="1676400"/>
            <a:ext cx="419100" cy="4191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30" name="图形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9382125" y="1781175"/>
            <a:ext cx="209550" cy="209550"/>
          </a:xfrm>
          <a:prstGeom prst="rect">
            <a:avLst/>
          </a:prstGeom>
          <a:ln/>
        </p:spPr>
      </p:pic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9782175" y="1781175"/>
            <a:ext cx="15525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Clear, honest errors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857250" y="2247900"/>
            <a:ext cx="2066925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Teacher and students meet in the browser — camera, microphone and screen sharing, no app to install.</a:t>
            </a:r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667125" y="2247900"/>
            <a:ext cx="205740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The lesson is recorded as one video. It auto-saves even if the page closes, and a heartbeat keeps the file safe.</a:t>
            </a:r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6467475" y="2505075"/>
            <a:ext cx="2066925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Replay the video and watch the shared whiteboard redraw itself, stroke by stroke, in sync.</a:t>
            </a:r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9277350" y="2505075"/>
            <a:ext cx="20574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If a camera is blocked, the app says exactly which setting to fix — in the parent's language.</a:t>
            </a:r>
            <a:endParaRPr/>
          </a:p>
        </p:txBody>
      </p:sp>
      <p:sp>
        <p:nvSpPr>
          <p:cNvPr id="36" name="矩形: 圆角 35"/>
          <p:cNvSpPr/>
          <p:nvPr/>
        </p:nvSpPr>
        <p:spPr>
          <a:xfrm>
            <a:off x="609600" y="4076700"/>
            <a:ext cx="10972800" cy="1428750"/>
          </a:xfrm>
          <a:prstGeom prst="roundRect">
            <a:avLst>
              <a:gd name="adj" fmla="val 10667"/>
            </a:avLst>
          </a:prstGeom>
          <a:solidFill>
            <a:srgbClr val="1D4ED8">
              <a:alpha val="6000"/>
            </a:srgbClr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90600" y="4438650"/>
            <a:ext cx="371475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1D4ED8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743075" y="4486275"/>
            <a:ext cx="945832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75">
                <a:solidFill>
                  <a:srgbClr val="0F172A">
                    <a:alpha val="78000"/>
                  </a:srgbClr>
                </a:solidFill>
                <a:latin typeface="Microsoft YaHei"/>
                <a:ea typeface="Microsoft YaHei"/>
              </a:rPr>
              <a:t>recordings lost in our final test round — close the tab, switch rooms or leave early, and the lesson still saves itself. </a:t>
            </a:r>
            <a:r>
              <a:rPr lang="en-US" sz="1275" b="1">
                <a:solidFill>
                  <a:srgbClr val="1D4ED8">
                    <a:alpha val="78000"/>
                  </a:srgbClr>
                </a:solidFill>
                <a:latin typeface="Microsoft YaHei"/>
                <a:ea typeface="Microsoft YaHei"/>
              </a:rPr>
              <a:t>Engineered for real classrooms, not perfect ones.</a:t>
            </a:r>
            <a:endParaRPr/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09600" y="190500"/>
            <a:ext cx="40100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What makes us different</a:t>
            </a:r>
            <a:endParaRPr/>
          </a:p>
        </p:txBody>
      </p:sp>
      <p:sp>
        <p:nvSpPr>
          <p:cNvPr id="44" name="矩形: 圆角 43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609600" y="1028700"/>
            <a:ext cx="84201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Most AI tutors chat alone with a child. We put AI inside a real classroom, with a real teacher and real parents.</a:t>
            </a:r>
            <a:endParaRPr/>
          </a:p>
        </p:txBody>
      </p:sp>
      <p:sp>
        <p:nvSpPr>
          <p:cNvPr id="46" name="矩形: 圆角 45"/>
          <p:cNvSpPr/>
          <p:nvPr/>
        </p:nvSpPr>
        <p:spPr>
          <a:xfrm>
            <a:off x="3124200" y="1600200"/>
            <a:ext cx="2733675" cy="533400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3752850" y="1781175"/>
            <a:ext cx="1476375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172A"/>
                </a:solidFill>
                <a:latin typeface="Microsoft YaHei"/>
                <a:ea typeface="Microsoft YaHei"/>
              </a:rPr>
              <a:t>Typical AI tutor app</a:t>
            </a:r>
            <a:endParaRPr/>
          </a:p>
        </p:txBody>
      </p:sp>
      <p:sp>
        <p:nvSpPr>
          <p:cNvPr id="48" name="矩形: 圆角 47"/>
          <p:cNvSpPr/>
          <p:nvPr/>
        </p:nvSpPr>
        <p:spPr>
          <a:xfrm>
            <a:off x="5991225" y="1600200"/>
            <a:ext cx="2724150" cy="533400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6572250" y="1781175"/>
            <a:ext cx="15621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172A"/>
                </a:solidFill>
                <a:latin typeface="Microsoft YaHei"/>
                <a:ea typeface="Microsoft YaHei"/>
              </a:rPr>
              <a:t>Classic LMS platform</a:t>
            </a:r>
            <a:endParaRPr/>
          </a:p>
        </p:txBody>
      </p:sp>
      <p:sp>
        <p:nvSpPr>
          <p:cNvPr id="50" name="矩形: 圆角 49"/>
          <p:cNvSpPr/>
          <p:nvPr/>
        </p:nvSpPr>
        <p:spPr>
          <a:xfrm>
            <a:off x="8848725" y="1600200"/>
            <a:ext cx="2733675" cy="533400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9563100" y="1781175"/>
            <a:ext cx="1304925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FFFFFF"/>
                </a:solidFill>
                <a:latin typeface="Microsoft YaHei"/>
                <a:ea typeface="Microsoft YaHei"/>
              </a:rPr>
              <a:t>Agentic EduVerse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609600" y="23812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Live classroom with video</a:t>
            </a:r>
            <a:endParaRPr/>
          </a:p>
        </p:txBody>
      </p:sp>
      <p:sp>
        <p:nvSpPr>
          <p:cNvPr id="53" name="矩形: 圆角 52"/>
          <p:cNvSpPr/>
          <p:nvPr/>
        </p:nvSpPr>
        <p:spPr>
          <a:xfrm>
            <a:off x="3124200" y="2247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54" name="矩形: 圆角 53"/>
          <p:cNvSpPr/>
          <p:nvPr/>
        </p:nvSpPr>
        <p:spPr>
          <a:xfrm>
            <a:off x="5991225" y="22479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55" name="图形 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7134225" y="2381250"/>
            <a:ext cx="171450" cy="171450"/>
          </a:xfrm>
          <a:prstGeom prst="rect">
            <a:avLst/>
          </a:prstGeom>
          <a:ln/>
        </p:spPr>
      </p:pic>
      <p:sp>
        <p:nvSpPr>
          <p:cNvPr id="56" name="矩形: 圆角 55"/>
          <p:cNvSpPr/>
          <p:nvPr/>
        </p:nvSpPr>
        <p:spPr>
          <a:xfrm>
            <a:off x="8848725" y="2247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57" name="图形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9991725" y="2381250"/>
            <a:ext cx="171450" cy="171450"/>
          </a:xfrm>
          <a:prstGeom prst="rect">
            <a:avLst/>
          </a:prstGeom>
          <a:ln/>
        </p:spPr>
      </p:pic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609600" y="29146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AI that guides, not answers</a:t>
            </a:r>
            <a:endParaRPr/>
          </a:p>
        </p:txBody>
      </p:sp>
      <p:sp>
        <p:nvSpPr>
          <p:cNvPr id="59" name="矩形: 圆角 58"/>
          <p:cNvSpPr/>
          <p:nvPr/>
        </p:nvSpPr>
        <p:spPr>
          <a:xfrm>
            <a:off x="3124200" y="27813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60" name="图形 5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4267200" y="2914650"/>
            <a:ext cx="171450" cy="171450"/>
          </a:xfrm>
          <a:prstGeom prst="rect">
            <a:avLst/>
          </a:prstGeom>
          <a:ln/>
        </p:spPr>
      </p:pic>
      <p:sp>
        <p:nvSpPr>
          <p:cNvPr id="61" name="矩形: 圆角 60"/>
          <p:cNvSpPr/>
          <p:nvPr/>
        </p:nvSpPr>
        <p:spPr>
          <a:xfrm>
            <a:off x="5991225" y="27813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62" name="矩形: 圆角 61"/>
          <p:cNvSpPr/>
          <p:nvPr/>
        </p:nvSpPr>
        <p:spPr>
          <a:xfrm>
            <a:off x="8848725" y="27813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63" name="图形 6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9991725" y="2914650"/>
            <a:ext cx="171450" cy="171450"/>
          </a:xfrm>
          <a:prstGeom prst="rect">
            <a:avLst/>
          </a:prstGeom>
          <a:ln/>
        </p:spPr>
      </p:pic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609600" y="34480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Auto-suggested teacher videos</a:t>
            </a:r>
            <a:endParaRPr/>
          </a:p>
        </p:txBody>
      </p:sp>
      <p:sp>
        <p:nvSpPr>
          <p:cNvPr id="65" name="矩形: 圆角 64"/>
          <p:cNvSpPr/>
          <p:nvPr/>
        </p:nvSpPr>
        <p:spPr>
          <a:xfrm>
            <a:off x="3124200" y="33147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5991225" y="33147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67" name="矩形: 圆角 66"/>
          <p:cNvSpPr/>
          <p:nvPr/>
        </p:nvSpPr>
        <p:spPr>
          <a:xfrm>
            <a:off x="8848725" y="33147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68" name="图形 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9991725" y="3448050"/>
            <a:ext cx="171450" cy="171450"/>
          </a:xfrm>
          <a:prstGeom prst="rect">
            <a:avLst/>
          </a:prstGeom>
          <a:ln/>
        </p:spPr>
      </p:pic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609600" y="39814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Parents verified &amp; in the loop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3124200" y="38481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71" name="矩形: 圆角 70"/>
          <p:cNvSpPr/>
          <p:nvPr/>
        </p:nvSpPr>
        <p:spPr>
          <a:xfrm>
            <a:off x="5991225" y="38481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8848725" y="38481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73" name="图形 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9991725" y="3981450"/>
            <a:ext cx="171450" cy="171450"/>
          </a:xfrm>
          <a:prstGeom prst="rect">
            <a:avLst/>
          </a:prstGeom>
          <a:ln/>
        </p:spPr>
      </p:pic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609600" y="45148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Multilingual interface</a:t>
            </a:r>
            <a:endParaRPr/>
          </a:p>
        </p:txBody>
      </p:sp>
      <p:sp>
        <p:nvSpPr>
          <p:cNvPr id="75" name="矩形: 圆角 74"/>
          <p:cNvSpPr/>
          <p:nvPr/>
        </p:nvSpPr>
        <p:spPr>
          <a:xfrm>
            <a:off x="3124200" y="43815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5991225" y="43815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77" name="矩形: 圆角 76"/>
          <p:cNvSpPr/>
          <p:nvPr/>
        </p:nvSpPr>
        <p:spPr>
          <a:xfrm>
            <a:off x="8848725" y="43815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78" name="图形 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9991725" y="4514850"/>
            <a:ext cx="171450" cy="171450"/>
          </a:xfrm>
          <a:prstGeom prst="rect">
            <a:avLst/>
          </a:prstGeom>
          <a:ln/>
        </p:spPr>
      </p:pic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609600" y="5048250"/>
            <a:ext cx="2381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Microsoft YaHei"/>
                <a:ea typeface="Microsoft YaHei"/>
              </a:rPr>
              <a:t>Runs without paid AI keys</a:t>
            </a:r>
            <a:endParaRPr/>
          </a:p>
        </p:txBody>
      </p:sp>
      <p:sp>
        <p:nvSpPr>
          <p:cNvPr id="80" name="矩形: 圆角 79"/>
          <p:cNvSpPr/>
          <p:nvPr/>
        </p:nvSpPr>
        <p:spPr>
          <a:xfrm>
            <a:off x="3124200" y="4914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81" name="图形 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4267200" y="5048250"/>
            <a:ext cx="171450" cy="171450"/>
          </a:xfrm>
          <a:prstGeom prst="rect">
            <a:avLst/>
          </a:prstGeom>
          <a:ln/>
        </p:spPr>
      </p:pic>
      <p:sp>
        <p:nvSpPr>
          <p:cNvPr id="82" name="矩形: 圆角 81"/>
          <p:cNvSpPr/>
          <p:nvPr/>
        </p:nvSpPr>
        <p:spPr>
          <a:xfrm>
            <a:off x="5991225" y="4914900"/>
            <a:ext cx="27241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12700">
            <a:solidFill>
              <a:srgbClr val="0F172A">
                <a:alpha val="6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83" name="图形 8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7134225" y="5048250"/>
            <a:ext cx="171450" cy="171450"/>
          </a:xfrm>
          <a:prstGeom prst="rect">
            <a:avLst/>
          </a:prstGeom>
          <a:ln/>
        </p:spPr>
      </p:pic>
      <p:sp>
        <p:nvSpPr>
          <p:cNvPr id="84" name="矩形: 圆角 83"/>
          <p:cNvSpPr/>
          <p:nvPr/>
        </p:nvSpPr>
        <p:spPr>
          <a:xfrm>
            <a:off x="8848725" y="4914900"/>
            <a:ext cx="2733675" cy="438150"/>
          </a:xfrm>
          <a:prstGeom prst="roundRect">
            <a:avLst>
              <a:gd name="adj" fmla="val 21739"/>
            </a:avLst>
          </a:prstGeom>
          <a:solidFill>
            <a:srgbClr val="06B6D4">
              <a:alpha val="10000"/>
            </a:srgbClr>
          </a:solidFill>
          <a:ln w="25400">
            <a:solidFill>
              <a:srgbClr val="06B6D4">
                <a:alpha val="35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pic>
        <p:nvPicPr>
          <p:cNvPr id="85" name="图形 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9991725" y="5048250"/>
            <a:ext cx="171450" cy="171450"/>
          </a:xfrm>
          <a:prstGeom prst="rect">
            <a:avLst/>
          </a:prstGeom>
          <a:ln/>
        </p:spPr>
      </p:pic>
      <p:pic>
        <p:nvPicPr>
          <p:cNvPr id="86" name="图形 85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4276725" y="2381250"/>
            <a:ext cx="171450" cy="171450"/>
          </a:xfrm>
          <a:prstGeom prst="rect">
            <a:avLst/>
          </a:prstGeom>
          <a:ln/>
        </p:spPr>
      </p:pic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524375" y="23907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7381875" y="2390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10239375" y="2390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4514850" y="29241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91" name="图形 90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134225" y="2914650"/>
            <a:ext cx="171450" cy="171450"/>
          </a:xfrm>
          <a:prstGeom prst="rect">
            <a:avLst/>
          </a:prstGeom>
          <a:ln/>
        </p:spPr>
      </p:pic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7381875" y="29241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0239375" y="29241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94" name="图形 93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4276725" y="3448050"/>
            <a:ext cx="171450" cy="171450"/>
          </a:xfrm>
          <a:prstGeom prst="rect">
            <a:avLst/>
          </a:prstGeom>
          <a:ln/>
        </p:spPr>
      </p:pic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4524375" y="34575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pic>
        <p:nvPicPr>
          <p:cNvPr id="96" name="图形 95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134225" y="3448050"/>
            <a:ext cx="171450" cy="171450"/>
          </a:xfrm>
          <a:prstGeom prst="rect">
            <a:avLst/>
          </a:prstGeom>
          <a:ln/>
        </p:spPr>
      </p:pic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7381875" y="34575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0239375" y="34575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99" name="图形 98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4276725" y="3981450"/>
            <a:ext cx="171450" cy="171450"/>
          </a:xfrm>
          <a:prstGeom prst="rect">
            <a:avLst/>
          </a:prstGeom>
          <a:ln/>
        </p:spPr>
      </p:pic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4524375" y="39909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pic>
        <p:nvPicPr>
          <p:cNvPr id="101" name="图形 100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7058025" y="3981450"/>
            <a:ext cx="171450" cy="171450"/>
          </a:xfrm>
          <a:prstGeom prst="rect">
            <a:avLst/>
          </a:prstGeom>
          <a:ln/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7305675" y="3990975"/>
            <a:ext cx="352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Partly</a:t>
            </a:r>
            <a:endParaRPr/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239375" y="39909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pic>
        <p:nvPicPr>
          <p:cNvPr id="104" name="图形 103"/>
          <p:cNvPicPr>
            <a:picLocks noChangeAspect="1"/>
          </p:cNvPicPr>
          <p:nvPr/>
        </p:nvPicPr>
        <p:blipFill>
          <a:blip>
            <a:alphaModFix amt="40000"/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4191000" y="4514850"/>
            <a:ext cx="171450" cy="171450"/>
          </a:xfrm>
          <a:prstGeom prst="rect">
            <a:avLst/>
          </a:prstGeom>
          <a:ln/>
        </p:spPr>
      </p:pic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438650" y="4524375"/>
            <a:ext cx="3524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Partly</a:t>
            </a:r>
            <a:endParaRPr/>
          </a:p>
        </p:txBody>
      </p:sp>
      <p:pic>
        <p:nvPicPr>
          <p:cNvPr id="106" name="图形 105"/>
          <p:cNvPicPr>
            <a:picLocks noChangeAspect="1"/>
          </p:cNvPicPr>
          <p:nvPr/>
        </p:nvPicPr>
        <p:blipFill>
          <a:blip>
            <a:alphaModFix amt="25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7134225" y="4514850"/>
            <a:ext cx="171450" cy="171450"/>
          </a:xfrm>
          <a:prstGeom prst="rect">
            <a:avLst/>
          </a:prstGeom>
          <a:ln/>
        </p:spPr>
      </p:pic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7381875" y="4524375"/>
            <a:ext cx="19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No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10239375" y="45243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4514850" y="5057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381875" y="5057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0239375" y="5057775"/>
            <a:ext cx="2000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13">
                <a:solidFill>
                  <a:srgbClr val="0F172A">
                    <a:alpha val="85000"/>
                  </a:srgbClr>
                </a:solidFill>
                <a:latin typeface="Microsoft YaHei"/>
                <a:ea typeface="Microsoft YaHei"/>
              </a:rPr>
              <a:t>Yes</a:t>
            </a:r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 1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09600" y="190500"/>
            <a:ext cx="52387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A market that is already moving</a:t>
            </a:r>
            <a:endParaRPr/>
          </a:p>
        </p:txBody>
      </p:sp>
      <p:sp>
        <p:nvSpPr>
          <p:cNvPr id="117" name="矩形: 圆角 116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09600" y="1666875"/>
            <a:ext cx="4000500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D4ED8"/>
                </a:solidFill>
                <a:latin typeface="Microsoft YaHei"/>
                <a:ea typeface="Microsoft YaHei"/>
              </a:rPr>
              <a:t>$5.8</a:t>
            </a:r>
            <a:r>
              <a:rPr lang="en-US" sz="3300" b="1">
                <a:solidFill>
                  <a:srgbClr val="1D4ED8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09600" y="2981325"/>
            <a:ext cx="4000500" cy="657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AI-in-education spending by 2030 — up from 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>$2.2B in 2024</a:t>
            </a:r>
            <a:r>
              <a:rPr lang="en-US" sz="1425">
                <a:solidFill>
                  <a:srgbClr val="0F172A"/>
                </a:solidFill>
                <a:latin typeface="Microsoft YaHei"/>
                <a:ea typeface="Microsoft YaHei"/>
              </a:rPr>
              <a:t>.</a:t>
            </a:r>
            <a:endParaRPr/>
          </a:p>
        </p:txBody>
      </p:sp>
      <p:sp>
        <p:nvSpPr>
          <p:cNvPr id="120" name="矩形: 圆角 119"/>
          <p:cNvSpPr/>
          <p:nvPr/>
        </p:nvSpPr>
        <p:spPr>
          <a:xfrm>
            <a:off x="609600" y="3848100"/>
            <a:ext cx="952500" cy="190500"/>
          </a:xfrm>
          <a:prstGeom prst="roundRect">
            <a:avLst>
              <a:gd name="adj" fmla="val 4995000"/>
            </a:avLst>
          </a:prstGeom>
          <a:solidFill>
            <a:srgbClr val="06B6D4">
              <a:alpha val="14000"/>
            </a:srgbClr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609600" y="3848100"/>
            <a:ext cx="952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CAGR 17.5%</a:t>
            </a:r>
            <a:endParaRPr/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657350" y="3876675"/>
            <a:ext cx="1419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50000"/>
                  </a:srgbClr>
                </a:solidFill>
                <a:latin typeface="Microsoft YaHei"/>
                <a:ea typeface="Microsoft YaHei"/>
              </a:rPr>
              <a:t>MarketsandMarkets, 2024</a:t>
            </a:r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09600" y="4248150"/>
            <a:ext cx="4000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Faster views go higher: another analyst sees </a:t>
            </a:r>
            <a:r>
              <a:rPr lang="en-US" sz="1125" b="1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$34.6B by 2030</a:t>
            </a:r>
            <a:r>
              <a:rPr lang="en-US" sz="1125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 at 36.5% a year. Either way, the wave is real.</a:t>
            </a:r>
            <a:endParaRPr/>
          </a:p>
        </p:txBody>
      </p:sp>
      <p:sp>
        <p:nvSpPr>
          <p:cNvPr id="124" name="矩形: 圆角 123"/>
          <p:cNvSpPr/>
          <p:nvPr/>
        </p:nvSpPr>
        <p:spPr>
          <a:xfrm>
            <a:off x="5676900" y="1428750"/>
            <a:ext cx="590550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F172A">
                <a:alpha val="7000"/>
              </a:srgbClr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6524625" y="3790950"/>
            <a:ext cx="6572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$1.78B</a:t>
            </a:r>
            <a:endParaRPr/>
          </a:p>
        </p:txBody>
      </p:sp>
      <p:sp>
        <p:nvSpPr>
          <p:cNvPr id="126" name="矩形: 圆角 125"/>
          <p:cNvSpPr/>
          <p:nvPr/>
        </p:nvSpPr>
        <p:spPr>
          <a:xfrm>
            <a:off x="6324600" y="4095750"/>
            <a:ext cx="1047750" cy="876300"/>
          </a:xfrm>
          <a:prstGeom prst="roundRect">
            <a:avLst>
              <a:gd name="adj" fmla="val 8696"/>
            </a:avLst>
          </a:prstGeom>
          <a:solidFill>
            <a:srgbClr val="94A3B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8305800" y="3562350"/>
            <a:ext cx="6572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$2.21B</a:t>
            </a:r>
            <a:endParaRPr/>
          </a:p>
        </p:txBody>
      </p:sp>
      <p:sp>
        <p:nvSpPr>
          <p:cNvPr id="128" name="矩形: 圆角 127"/>
          <p:cNvSpPr/>
          <p:nvPr/>
        </p:nvSpPr>
        <p:spPr>
          <a:xfrm>
            <a:off x="8105775" y="3867150"/>
            <a:ext cx="1047750" cy="1104900"/>
          </a:xfrm>
          <a:prstGeom prst="roundRect">
            <a:avLst>
              <a:gd name="adj" fmla="val 7273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0086975" y="1809750"/>
            <a:ext cx="6572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$5.82B</a:t>
            </a:r>
            <a:endParaRPr/>
          </a:p>
        </p:txBody>
      </p:sp>
      <p:sp>
        <p:nvSpPr>
          <p:cNvPr id="130" name="矩形: 圆角 129"/>
          <p:cNvSpPr/>
          <p:nvPr/>
        </p:nvSpPr>
        <p:spPr>
          <a:xfrm>
            <a:off x="9886950" y="2114550"/>
            <a:ext cx="1047750" cy="2857500"/>
          </a:xfrm>
          <a:prstGeom prst="roundRect">
            <a:avLst>
              <a:gd name="adj" fmla="val 7273"/>
            </a:avLst>
          </a:prstGeom>
          <a:solidFill>
            <a:srgbClr val="06B6D4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6677025" y="5067300"/>
            <a:ext cx="34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65000"/>
                  </a:srgbClr>
                </a:solidFill>
                <a:latin typeface="Microsoft YaHei"/>
                <a:ea typeface="Microsoft YaHei"/>
              </a:rPr>
              <a:t>2023</a:t>
            </a:r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458200" y="5067300"/>
            <a:ext cx="34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65000"/>
                  </a:srgbClr>
                </a:solidFill>
                <a:latin typeface="Microsoft YaHei"/>
                <a:ea typeface="Microsoft YaHei"/>
              </a:rPr>
              <a:t>2024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10239375" y="5067300"/>
            <a:ext cx="342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>
                    <a:alpha val="65000"/>
                  </a:srgbClr>
                </a:solidFill>
                <a:latin typeface="Microsoft YaHei"/>
                <a:ea typeface="Microsoft YaHei"/>
              </a:rPr>
              <a:t>2030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609600" y="190500"/>
            <a:ext cx="35433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F172A"/>
                </a:solidFill>
                <a:latin typeface="Microsoft YaHei"/>
                <a:ea typeface="Microsoft YaHei"/>
              </a:rPr>
              <a:t>A simple way to grow</a:t>
            </a:r>
            <a:endParaRPr/>
          </a:p>
        </p:txBody>
      </p:sp>
      <p:sp>
        <p:nvSpPr>
          <p:cNvPr id="139" name="矩形: 圆角 138"/>
          <p:cNvSpPr/>
          <p:nvPr/>
        </p:nvSpPr>
        <p:spPr>
          <a:xfrm>
            <a:off x="609600" y="676275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0" name="矩形: 圆角 139"/>
          <p:cNvSpPr/>
          <p:nvPr/>
        </p:nvSpPr>
        <p:spPr>
          <a:xfrm>
            <a:off x="609600" y="1333500"/>
            <a:ext cx="3495675" cy="200025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141" name="图形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838200" y="1562100"/>
            <a:ext cx="247650" cy="247650"/>
          </a:xfrm>
          <a:prstGeom prst="rect">
            <a:avLst/>
          </a:prstGeom>
          <a:ln/>
        </p:spPr>
      </p:pic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1200150" y="1581150"/>
            <a:ext cx="1457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Free for teachers</a:t>
            </a:r>
            <a:endParaRPr/>
          </a:p>
        </p:txBody>
      </p:sp>
      <p:sp>
        <p:nvSpPr>
          <p:cNvPr id="143" name="矩形: 圆角 142"/>
          <p:cNvSpPr/>
          <p:nvPr/>
        </p:nvSpPr>
        <p:spPr>
          <a:xfrm>
            <a:off x="3057525" y="1619250"/>
            <a:ext cx="819150" cy="133350"/>
          </a:xfrm>
          <a:prstGeom prst="roundRect">
            <a:avLst>
              <a:gd name="adj" fmla="val 7135714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3057525" y="1619250"/>
            <a:ext cx="8191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Growth engine</a:t>
            </a:r>
            <a:endParaRPr/>
          </a:p>
        </p:txBody>
      </p:sp>
      <p:sp>
        <p:nvSpPr>
          <p:cNvPr id="145" name="矩形: 圆角 144"/>
          <p:cNvSpPr/>
          <p:nvPr/>
        </p:nvSpPr>
        <p:spPr>
          <a:xfrm>
            <a:off x="4352925" y="1333500"/>
            <a:ext cx="3486150" cy="200025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146" name="图形 14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4581525" y="1562100"/>
            <a:ext cx="247650" cy="247650"/>
          </a:xfrm>
          <a:prstGeom prst="rect">
            <a:avLst/>
          </a:prstGeom>
          <a:ln/>
        </p:spPr>
      </p:pic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4943475" y="1581150"/>
            <a:ext cx="990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Family plan</a:t>
            </a:r>
            <a:endParaRPr/>
          </a:p>
        </p:txBody>
      </p:sp>
      <p:sp>
        <p:nvSpPr>
          <p:cNvPr id="148" name="矩形: 圆角 147"/>
          <p:cNvSpPr/>
          <p:nvPr/>
        </p:nvSpPr>
        <p:spPr>
          <a:xfrm>
            <a:off x="6915150" y="1619250"/>
            <a:ext cx="695325" cy="133350"/>
          </a:xfrm>
          <a:prstGeom prst="roundRect">
            <a:avLst>
              <a:gd name="adj" fmla="val 7135714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6915150" y="1619250"/>
            <a:ext cx="695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B2C revenue</a:t>
            </a:r>
            <a:endParaRPr/>
          </a:p>
        </p:txBody>
      </p:sp>
      <p:sp>
        <p:nvSpPr>
          <p:cNvPr id="150" name="矩形: 圆角 149"/>
          <p:cNvSpPr/>
          <p:nvPr/>
        </p:nvSpPr>
        <p:spPr>
          <a:xfrm>
            <a:off x="8086725" y="1333500"/>
            <a:ext cx="3495675" cy="200025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151" name="图形 1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>
            <a:off x="8315325" y="1562100"/>
            <a:ext cx="247650" cy="247650"/>
          </a:xfrm>
          <a:prstGeom prst="rect">
            <a:avLst/>
          </a:prstGeom>
          <a:ln/>
        </p:spPr>
      </p:pic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8677275" y="1581150"/>
            <a:ext cx="12192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School licence</a:t>
            </a:r>
            <a:endParaRPr/>
          </a:p>
        </p:txBody>
      </p:sp>
      <p:sp>
        <p:nvSpPr>
          <p:cNvPr id="153" name="矩形: 圆角 152"/>
          <p:cNvSpPr/>
          <p:nvPr/>
        </p:nvSpPr>
        <p:spPr>
          <a:xfrm>
            <a:off x="10658475" y="1619250"/>
            <a:ext cx="695325" cy="133350"/>
          </a:xfrm>
          <a:prstGeom prst="roundRect">
            <a:avLst>
              <a:gd name="adj" fmla="val 7135714"/>
            </a:avLst>
          </a:prstGeom>
          <a:solidFill>
            <a:srgbClr val="1D4ED8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10658475" y="1619250"/>
            <a:ext cx="695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63" b="1">
                <a:solidFill>
                  <a:srgbClr val="FFFFFF"/>
                </a:solidFill>
                <a:latin typeface="Microsoft YaHei"/>
                <a:ea typeface="Microsoft YaHei"/>
              </a:rPr>
              <a:t>B2B revenue</a:t>
            </a:r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838200" y="2590800"/>
            <a:ext cx="30384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Teachers never pay. A free classroom brings the whole school through the door.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4581525" y="2333625"/>
            <a:ext cx="302895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Parents pay a small monthly fee for the AI companion, the translator and weekly reports.</a:t>
            </a:r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8315325" y="2590800"/>
            <a:ext cx="30384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088">
                <a:solidFill>
                  <a:srgbClr val="0F172A">
                    <a:alpha val="72000"/>
                  </a:srgbClr>
                </a:solidFill>
                <a:latin typeface="Microsoft YaHei"/>
                <a:ea typeface="Microsoft YaHei"/>
              </a:rPr>
              <a:t>One contract per school: unlimited classes, admin tools and priority support.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609600" y="3829050"/>
            <a:ext cx="16287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F172A"/>
                </a:solidFill>
                <a:latin typeface="Microsoft YaHei"/>
                <a:ea typeface="Microsoft YaHei"/>
              </a:rPr>
              <a:t>Next 12 months</a:t>
            </a:r>
            <a:endParaRPr/>
          </a:p>
        </p:txBody>
      </p:sp>
      <p:sp>
        <p:nvSpPr>
          <p:cNvPr id="159" name="矩形: 圆角 158"/>
          <p:cNvSpPr/>
          <p:nvPr/>
        </p:nvSpPr>
        <p:spPr>
          <a:xfrm>
            <a:off x="857250" y="4476750"/>
            <a:ext cx="104775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0" scaled="1"/>
          </a:gra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60" name="矩形: 圆角 159"/>
          <p:cNvSpPr/>
          <p:nvPr/>
        </p:nvSpPr>
        <p:spPr>
          <a:xfrm>
            <a:off x="2257425" y="41910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0">
            <a:solidFill>
              <a:srgbClr val="1D4ED8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61" name="矩形: 圆角 160"/>
          <p:cNvSpPr/>
          <p:nvPr/>
        </p:nvSpPr>
        <p:spPr>
          <a:xfrm>
            <a:off x="609600" y="4495800"/>
            <a:ext cx="3495675" cy="1009650"/>
          </a:xfrm>
          <a:prstGeom prst="roundRect">
            <a:avLst>
              <a:gd name="adj" fmla="val 11321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62000" y="4648200"/>
            <a:ext cx="9810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Pilot schools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3676650" y="4676775"/>
            <a:ext cx="2762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Now</a:t>
            </a:r>
            <a:endParaRPr/>
          </a:p>
        </p:txBody>
      </p:sp>
      <p:sp>
        <p:nvSpPr>
          <p:cNvPr id="164" name="矩形: 圆角 163"/>
          <p:cNvSpPr/>
          <p:nvPr/>
        </p:nvSpPr>
        <p:spPr>
          <a:xfrm>
            <a:off x="5991225" y="41910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0">
            <a:solidFill>
              <a:srgbClr val="1D4ED8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4352925" y="4495800"/>
            <a:ext cx="3486150" cy="1009650"/>
          </a:xfrm>
          <a:prstGeom prst="roundRect">
            <a:avLst>
              <a:gd name="adj" fmla="val 11321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4505325" y="4648200"/>
            <a:ext cx="952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Mobile apps</a:t>
            </a:r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048500" y="4676775"/>
            <a:ext cx="6381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+4 months</a:t>
            </a:r>
            <a:endParaRPr/>
          </a:p>
        </p:txBody>
      </p:sp>
      <p:sp>
        <p:nvSpPr>
          <p:cNvPr id="168" name="矩形: 圆角 167"/>
          <p:cNvSpPr/>
          <p:nvPr/>
        </p:nvSpPr>
        <p:spPr>
          <a:xfrm>
            <a:off x="9734550" y="41910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0">
            <a:solidFill>
              <a:srgbClr val="1D4ED8"/>
            </a:solidFill>
            <a:prstDash val="solid"/>
          </a:ln>
        </p:spPr>
        <p:txBody>
          <a:bodyPr/>
          <a:lstStyle/>
          <a:p>
            <a:pPr/>
            <a:endParaRPr/>
          </a:p>
        </p:txBody>
      </p:sp>
      <p:sp>
        <p:nvSpPr>
          <p:cNvPr id="169" name="矩形: 圆角 168"/>
          <p:cNvSpPr/>
          <p:nvPr/>
        </p:nvSpPr>
        <p:spPr>
          <a:xfrm>
            <a:off x="8086725" y="4495800"/>
            <a:ext cx="3495675" cy="1009650"/>
          </a:xfrm>
          <a:prstGeom prst="roundRect">
            <a:avLst>
              <a:gd name="adj" fmla="val 11321"/>
            </a:avLst>
          </a:prstGeom>
          <a:solidFill>
            <a:srgbClr val="F1F5F9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8239125" y="4648200"/>
            <a:ext cx="11715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Content library</a:t>
            </a:r>
            <a:endParaRPr/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725150" y="4676775"/>
            <a:ext cx="7048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6B6D4"/>
                </a:solidFill>
                <a:latin typeface="Microsoft YaHei"/>
                <a:ea typeface="Microsoft YaHei"/>
              </a:rPr>
              <a:t>+12 months</a:t>
            </a:r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762000" y="4886325"/>
            <a:ext cx="3190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Run free pilots with local schools and collect teacher feedback.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4505325" y="4886325"/>
            <a:ext cx="31813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Bring the student portal and parent reports to phones.</a:t>
            </a:r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8239125" y="4886325"/>
            <a:ext cx="31908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013">
                <a:solidFill>
                  <a:srgbClr val="0F172A">
                    <a:alpha val="68000"/>
                  </a:srgbClr>
                </a:solidFill>
                <a:latin typeface="Microsoft YaHei"/>
                <a:ea typeface="Microsoft YaHei"/>
              </a:rPr>
              <a:t>Curated, teacher-approved video library inside the AI answers.</a:t>
            </a:r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609600" y="6505575"/>
            <a:ext cx="19240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Agentic EduVerse · Roadshow 2026</a:t>
            </a:r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1191875" y="650557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0F172A">
                    <a:alpha val="45000"/>
                  </a:srgbClr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矩形 1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9334500" y="-1143000"/>
            <a:ext cx="4000500" cy="4000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6B6D4">
                  <a:alpha val="28000"/>
                </a:srgbClr>
              </a:gs>
              <a:gs pos="7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0" name="矩形: 圆角 179"/>
          <p:cNvSpPr/>
          <p:nvPr/>
        </p:nvSpPr>
        <p:spPr>
          <a:xfrm>
            <a:off x="-952500" y="3810000"/>
            <a:ext cx="4381500" cy="4381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D4ED8">
                  <a:alpha val="30000"/>
                </a:srgbClr>
              </a:gs>
              <a:gs pos="70000">
                <a:srgbClr val="1D4ED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1" name="矩形: 圆角 180"/>
          <p:cNvSpPr/>
          <p:nvPr/>
        </p:nvSpPr>
        <p:spPr>
          <a:xfrm>
            <a:off x="5791200" y="1219200"/>
            <a:ext cx="609600" cy="6096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pPr/>
            <a:endParaRPr/>
          </a:p>
        </p:txBody>
      </p:sp>
      <p:pic>
        <p:nvPicPr>
          <p:cNvPr id="182" name="图形 1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>
            <a:off x="5934075" y="1362075"/>
            <a:ext cx="323850" cy="323850"/>
          </a:xfrm>
          <a:prstGeom prst="rect">
            <a:avLst/>
          </a:prstGeom>
          <a:ln/>
        </p:spPr>
      </p:pic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990725" y="2152650"/>
            <a:ext cx="8210550" cy="1371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0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Education works best when everyone</a:t>
            </a:r>
            <a:endParaRPr/>
          </a:p>
          <a:p>
            <a:pPr algn="ctr">
              <a:lnSpc>
                <a:spcPct val="130000"/>
              </a:lnSpc>
            </a:pPr>
            <a:r>
              <a:rPr lang="en-US" sz="3450" b="1">
                <a:solidFill>
                  <a:srgbClr val="FFFFFF"/>
                </a:solidFill>
                <a:latin typeface="Microsoft YaHei"/>
                <a:ea typeface="Microsoft YaHei"/>
              </a:rPr>
              <a:t>is in the same room.</a:t>
            </a:r>
            <a:endParaRPr/>
          </a:p>
        </p:txBody>
      </p:sp>
      <p:sp>
        <p:nvSpPr>
          <p:cNvPr id="184" name="矩形: 圆角 183"/>
          <p:cNvSpPr/>
          <p:nvPr/>
        </p:nvSpPr>
        <p:spPr>
          <a:xfrm>
            <a:off x="5572125" y="4514850"/>
            <a:ext cx="1047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D4ED8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lstStyle/>
          <a:p>
            <a:pPr/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495925" y="4876800"/>
            <a:ext cx="12096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B6D4"/>
                </a:solidFill>
                <a:latin typeface="Microsoft YaHei"/>
                <a:ea typeface="Microsoft YaHei"/>
              </a:rPr>
              <a:t>Thank you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3819525" y="3848100"/>
            <a:ext cx="45529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We built the room. The AI is already teaching in it.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4105275" y="5476875"/>
            <a:ext cx="39909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Agentic </a:t>
            </a:r>
            <a:r>
              <a:rPr lang="en-US" sz="1050" dirty="0" err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EduVerse</a:t>
            </a: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 · HACKMIT Team Binary: Jenny &amp; Elara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2026-09-20T05:58:58Z</dcterms:created>
  <dcterms:modified xsi:type="dcterms:W3CDTF">2026-09-20T05:58:58Z</dcterms:modified>
</cp:coreProperties>
</file>